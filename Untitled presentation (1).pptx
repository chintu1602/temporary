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eeac19c6f5_2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eeac19c6f5_2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eeac19c6f5_2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eac19c6f5_2_1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g3eeac19c6f5_2_1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g3eeac19c6f5_2_1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eac19c6f5_2_4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eeac19c6f5_2_4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eeac19c6f5_2_4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eac19c6f5_2_10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eeac19c6f5_2_10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eeac19c6f5_2_10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eeac19c6f5_2_16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g3eeac19c6f5_2_16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eeac19c6f5_2_16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eeac19c6f5_2_19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g3eeac19c6f5_2_19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eeac19c6f5_2_19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eeae14341f_1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g3eeae14341f_1_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eeae14341f_1_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eeac19c6f5_2_28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g3eeac19c6f5_2_28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g3eeac19c6f5_2_28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00BFA5">
              <a:alpha val="12156"/>
            </a:srgbClr>
          </a:solidFill>
          <a:ln cap="flat" cmpd="sng" w="12700">
            <a:solidFill>
              <a:srgbClr val="00BFA5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4FC3F7">
              <a:alpha val="10196"/>
            </a:srgbClr>
          </a:solidFill>
          <a:ln cap="flat" cmpd="sng" w="12700">
            <a:solidFill>
              <a:srgbClr val="4FC3F7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5"/>
          <p:cNvSpPr/>
          <p:nvPr/>
        </p:nvSpPr>
        <p:spPr>
          <a:xfrm>
            <a:off x="548640" y="1005840"/>
            <a:ext cx="2011680" cy="292608"/>
          </a:xfrm>
          <a:prstGeom prst="roundRect">
            <a:avLst>
              <a:gd fmla="val 15625" name="adj"/>
            </a:avLst>
          </a:prstGeom>
          <a:solidFill>
            <a:srgbClr val="00BFA5">
              <a:alpha val="80000"/>
            </a:srgbClr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5"/>
          <p:cNvSpPr/>
          <p:nvPr/>
        </p:nvSpPr>
        <p:spPr>
          <a:xfrm>
            <a:off x="548640" y="98755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CLOUD COMPUTING PROJECT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548640" y="1508760"/>
            <a:ext cx="7772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NutriAI Health Portal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548640" y="2560320"/>
            <a:ext cx="2560320" cy="50292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5"/>
          <p:cNvSpPr/>
          <p:nvPr/>
        </p:nvSpPr>
        <p:spPr>
          <a:xfrm>
            <a:off x="548640" y="2743200"/>
            <a:ext cx="6858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800"/>
              <a:buFont typeface="Calibri"/>
              <a:buNone/>
            </a:pPr>
            <a:r>
              <a:rPr b="0" i="0" lang="en" sz="18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AI-Powered Health &amp; Nutrition Management Platform on Azure Cloud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Cloud Computing Course Project  •  Team: [Your Name(s)]  •  [Semester / Year]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D42"/>
          </a:solidFill>
          <a:ln cap="flat" cmpd="sng" w="12700">
            <a:solidFill>
              <a:srgbClr val="1A2D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6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Application Overview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/>
          <p:nvPr/>
        </p:nvSpPr>
        <p:spPr>
          <a:xfrm>
            <a:off x="365760" y="822960"/>
            <a:ext cx="2651760" cy="1371600"/>
          </a:xfrm>
          <a:prstGeom prst="roundRect">
            <a:avLst>
              <a:gd fmla="val 6667" name="adj"/>
            </a:avLst>
          </a:prstGeom>
          <a:solidFill>
            <a:srgbClr val="152236"/>
          </a:solidFill>
          <a:ln cap="flat" cmpd="sng" w="12700">
            <a:solidFill>
              <a:srgbClr val="00BFA5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/>
          <p:nvPr/>
        </p:nvSpPr>
        <p:spPr>
          <a:xfrm>
            <a:off x="502920" y="93268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0BFA5"/>
                </a:solidFill>
                <a:latin typeface="Calibri"/>
                <a:ea typeface="Calibri"/>
                <a:cs typeface="Calibri"/>
                <a:sym typeface="Calibri"/>
              </a:rPr>
              <a:t>📄  Document OCR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502920" y="1298448"/>
            <a:ext cx="237744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Upload prescriptions &amp; lab reports; extract text via Azure AI Document Intelligence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3246120" y="822960"/>
            <a:ext cx="2651760" cy="1371600"/>
          </a:xfrm>
          <a:prstGeom prst="roundRect">
            <a:avLst>
              <a:gd fmla="val 6667" name="adj"/>
            </a:avLst>
          </a:prstGeom>
          <a:solidFill>
            <a:srgbClr val="152236"/>
          </a:solidFill>
          <a:ln cap="flat" cmpd="sng" w="12700">
            <a:solidFill>
              <a:srgbClr val="00BFA5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/>
          <p:nvPr/>
        </p:nvSpPr>
        <p:spPr>
          <a:xfrm>
            <a:off x="3383280" y="93268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0BFA5"/>
                </a:solidFill>
                <a:latin typeface="Calibri"/>
                <a:ea typeface="Calibri"/>
                <a:cs typeface="Calibri"/>
                <a:sym typeface="Calibri"/>
              </a:rPr>
              <a:t>🧠  AI Diet Plans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3383280" y="1298448"/>
            <a:ext cx="237744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Personalized GPT-4 powered nutrition plans via Azure OpenAI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6126480" y="822960"/>
            <a:ext cx="2651760" cy="1371600"/>
          </a:xfrm>
          <a:prstGeom prst="roundRect">
            <a:avLst>
              <a:gd fmla="val 6667" name="adj"/>
            </a:avLst>
          </a:prstGeom>
          <a:solidFill>
            <a:srgbClr val="152236"/>
          </a:solidFill>
          <a:ln cap="flat" cmpd="sng" w="12700">
            <a:solidFill>
              <a:srgbClr val="00BFA5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6263640" y="93268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0BFA5"/>
                </a:solidFill>
                <a:latin typeface="Calibri"/>
                <a:ea typeface="Calibri"/>
                <a:cs typeface="Calibri"/>
                <a:sym typeface="Calibri"/>
              </a:rPr>
              <a:t>📊  Health Tracking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6263640" y="1298448"/>
            <a:ext cx="237744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Track weight, BP, blood sugar, calories with visual charts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365760" y="2423160"/>
            <a:ext cx="2651760" cy="1371600"/>
          </a:xfrm>
          <a:prstGeom prst="roundRect">
            <a:avLst>
              <a:gd fmla="val 6667" name="adj"/>
            </a:avLst>
          </a:prstGeom>
          <a:solidFill>
            <a:srgbClr val="152236"/>
          </a:solidFill>
          <a:ln cap="flat" cmpd="sng" w="12700">
            <a:solidFill>
              <a:srgbClr val="00BFA5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/>
          <p:nvPr/>
        </p:nvSpPr>
        <p:spPr>
          <a:xfrm>
            <a:off x="502920" y="253288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0BFA5"/>
                </a:solidFill>
                <a:latin typeface="Calibri"/>
                <a:ea typeface="Calibri"/>
                <a:cs typeface="Calibri"/>
                <a:sym typeface="Calibri"/>
              </a:rPr>
              <a:t>🔐  Secure Auth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502920" y="2898648"/>
            <a:ext cx="237744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Microsoft Entra ID SSO + email/password with JWT tokens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3246120" y="2423160"/>
            <a:ext cx="2651760" cy="1371600"/>
          </a:xfrm>
          <a:prstGeom prst="roundRect">
            <a:avLst>
              <a:gd fmla="val 6667" name="adj"/>
            </a:avLst>
          </a:prstGeom>
          <a:solidFill>
            <a:srgbClr val="152236"/>
          </a:solidFill>
          <a:ln cap="flat" cmpd="sng" w="12700">
            <a:solidFill>
              <a:srgbClr val="00BFA5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/>
          <p:nvPr/>
        </p:nvSpPr>
        <p:spPr>
          <a:xfrm>
            <a:off x="3383280" y="253288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0BFA5"/>
                </a:solidFill>
                <a:latin typeface="Calibri"/>
                <a:ea typeface="Calibri"/>
                <a:cs typeface="Calibri"/>
                <a:sym typeface="Calibri"/>
              </a:rPr>
              <a:t>🔔  Notifications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3383280" y="2898648"/>
            <a:ext cx="237744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Real-time alerts for document processing &amp; diet plan status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6126480" y="2423160"/>
            <a:ext cx="2651760" cy="1371600"/>
          </a:xfrm>
          <a:prstGeom prst="roundRect">
            <a:avLst>
              <a:gd fmla="val 6667" name="adj"/>
            </a:avLst>
          </a:prstGeom>
          <a:solidFill>
            <a:srgbClr val="152236"/>
          </a:solidFill>
          <a:ln cap="flat" cmpd="sng" w="12700">
            <a:solidFill>
              <a:srgbClr val="00BFA5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6"/>
          <p:cNvSpPr/>
          <p:nvPr/>
        </p:nvSpPr>
        <p:spPr>
          <a:xfrm>
            <a:off x="6263640" y="253288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0BFA5"/>
                </a:solidFill>
                <a:latin typeface="Calibri"/>
                <a:ea typeface="Calibri"/>
                <a:cs typeface="Calibri"/>
                <a:sym typeface="Calibri"/>
              </a:rPr>
              <a:t>⚙️  Admin Dashboard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6263640" y="2898648"/>
            <a:ext cx="237744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User management, role-based access control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365760" y="3977640"/>
            <a:ext cx="8412480" cy="731520"/>
          </a:xfrm>
          <a:prstGeom prst="roundRect">
            <a:avLst>
              <a:gd fmla="val 10000" name="adj"/>
            </a:avLst>
          </a:prstGeom>
          <a:solidFill>
            <a:srgbClr val="1A2D42"/>
          </a:solidFill>
          <a:ln cap="flat" cmpd="sng" w="12700">
            <a:solidFill>
              <a:srgbClr val="1A2D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594360" y="4041648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0BFA5"/>
                </a:solidFill>
                <a:latin typeface="Calibri"/>
                <a:ea typeface="Calibri"/>
                <a:cs typeface="Calibri"/>
                <a:sym typeface="Calibri"/>
              </a:rPr>
              <a:t>Tech Stack: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594360" y="4315968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• Frontend: Vite + JS (Nginx)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2606040" y="4315968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• Backend: FastAPI + Gunicorn/Uvicorn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4617720" y="4315968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• Database: PostgreSQL Flexible Server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6629400" y="4315968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• Containers: Docker + Azure ACR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D42"/>
          </a:solidFill>
          <a:ln cap="flat" cmpd="sng" w="12700">
            <a:solidFill>
              <a:srgbClr val="1A2D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7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Application Architecture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7"/>
          <p:cNvSpPr/>
          <p:nvPr/>
        </p:nvSpPr>
        <p:spPr>
          <a:xfrm>
            <a:off x="182880" y="914400"/>
            <a:ext cx="1280160" cy="640080"/>
          </a:xfrm>
          <a:prstGeom prst="roundRect">
            <a:avLst>
              <a:gd fmla="val 11429" name="adj"/>
            </a:avLst>
          </a:prstGeom>
          <a:solidFill>
            <a:srgbClr val="1B5E20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228600" y="960120"/>
            <a:ext cx="1188720" cy="3520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Internet Users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228600" y="1266444"/>
            <a:ext cx="1188720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HTTP/HTTPS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" name="Google Shape;110;p17"/>
          <p:cNvCxnSpPr/>
          <p:nvPr/>
        </p:nvCxnSpPr>
        <p:spPr>
          <a:xfrm>
            <a:off x="1463040" y="1234440"/>
            <a:ext cx="365760" cy="0"/>
          </a:xfrm>
          <a:prstGeom prst="straightConnector1">
            <a:avLst/>
          </a:prstGeom>
          <a:noFill/>
          <a:ln cap="flat" cmpd="sng" w="19050">
            <a:solidFill>
              <a:srgbClr val="00BFA5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1" name="Google Shape;111;p17"/>
          <p:cNvSpPr/>
          <p:nvPr/>
        </p:nvSpPr>
        <p:spPr>
          <a:xfrm>
            <a:off x="1828800" y="777240"/>
            <a:ext cx="1463040" cy="914400"/>
          </a:xfrm>
          <a:prstGeom prst="roundRect">
            <a:avLst>
              <a:gd fmla="val 8000" name="adj"/>
            </a:avLst>
          </a:prstGeom>
          <a:solidFill>
            <a:srgbClr val="0277B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7"/>
          <p:cNvSpPr/>
          <p:nvPr/>
        </p:nvSpPr>
        <p:spPr>
          <a:xfrm>
            <a:off x="1874520" y="82296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 Gateway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1874520" y="128016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Path-based routing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/api/* + /*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17"/>
          <p:cNvCxnSpPr/>
          <p:nvPr/>
        </p:nvCxnSpPr>
        <p:spPr>
          <a:xfrm>
            <a:off x="3291840" y="914400"/>
            <a:ext cx="365760" cy="0"/>
          </a:xfrm>
          <a:prstGeom prst="straightConnector1">
            <a:avLst/>
          </a:prstGeom>
          <a:noFill/>
          <a:ln cap="flat" cmpd="sng" w="19050">
            <a:solidFill>
              <a:srgbClr val="00BFA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5" name="Google Shape;115;p17"/>
          <p:cNvCxnSpPr/>
          <p:nvPr/>
        </p:nvCxnSpPr>
        <p:spPr>
          <a:xfrm>
            <a:off x="3291840" y="1463040"/>
            <a:ext cx="365760" cy="0"/>
          </a:xfrm>
          <a:prstGeom prst="straightConnector1">
            <a:avLst/>
          </a:prstGeom>
          <a:noFill/>
          <a:ln cap="flat" cmpd="sng" w="19050">
            <a:solidFill>
              <a:srgbClr val="00BFA5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6" name="Google Shape;116;p17"/>
          <p:cNvSpPr/>
          <p:nvPr/>
        </p:nvSpPr>
        <p:spPr>
          <a:xfrm>
            <a:off x="3657600" y="685800"/>
            <a:ext cx="1371600" cy="640080"/>
          </a:xfrm>
          <a:prstGeom prst="roundRect">
            <a:avLst>
              <a:gd fmla="val 11429" name="adj"/>
            </a:avLst>
          </a:prstGeom>
          <a:solidFill>
            <a:srgbClr val="1565C0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7"/>
          <p:cNvSpPr/>
          <p:nvPr/>
        </p:nvSpPr>
        <p:spPr>
          <a:xfrm>
            <a:off x="3703320" y="731520"/>
            <a:ext cx="1280160" cy="3520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3703320" y="1037844"/>
            <a:ext cx="1280160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Nginx :80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3657600" y="1417320"/>
            <a:ext cx="1371600" cy="640080"/>
          </a:xfrm>
          <a:prstGeom prst="roundRect">
            <a:avLst>
              <a:gd fmla="val 11429" name="adj"/>
            </a:avLst>
          </a:prstGeom>
          <a:solidFill>
            <a:srgbClr val="1565C0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7"/>
          <p:cNvSpPr/>
          <p:nvPr/>
        </p:nvSpPr>
        <p:spPr>
          <a:xfrm>
            <a:off x="3703320" y="1463040"/>
            <a:ext cx="1280160" cy="3520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3703320" y="1769364"/>
            <a:ext cx="1280160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FastAPI :8000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17"/>
          <p:cNvCxnSpPr/>
          <p:nvPr/>
        </p:nvCxnSpPr>
        <p:spPr>
          <a:xfrm>
            <a:off x="5029200" y="1828800"/>
            <a:ext cx="274320" cy="0"/>
          </a:xfrm>
          <a:prstGeom prst="straightConnector1">
            <a:avLst/>
          </a:prstGeom>
          <a:noFill/>
          <a:ln cap="flat" cmpd="sng" w="19050">
            <a:solidFill>
              <a:srgbClr val="00BFA5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3" name="Google Shape;123;p17"/>
          <p:cNvSpPr/>
          <p:nvPr/>
        </p:nvSpPr>
        <p:spPr>
          <a:xfrm>
            <a:off x="5349240" y="731520"/>
            <a:ext cx="3566160" cy="3017520"/>
          </a:xfrm>
          <a:prstGeom prst="roundRect">
            <a:avLst>
              <a:gd fmla="val 3030" name="adj"/>
            </a:avLst>
          </a:prstGeom>
          <a:solidFill>
            <a:srgbClr val="0A1929"/>
          </a:solidFill>
          <a:ln cap="flat" cmpd="sng" w="12700">
            <a:solidFill>
              <a:srgbClr val="00BFA5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7"/>
          <p:cNvSpPr/>
          <p:nvPr/>
        </p:nvSpPr>
        <p:spPr>
          <a:xfrm>
            <a:off x="5440680" y="768096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0BFA5"/>
                </a:solidFill>
                <a:latin typeface="Calibri"/>
                <a:ea typeface="Calibri"/>
                <a:cs typeface="Calibri"/>
                <a:sym typeface="Calibri"/>
              </a:rPr>
              <a:t>Azure Services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5440680" y="1097280"/>
            <a:ext cx="1600200" cy="502920"/>
          </a:xfrm>
          <a:prstGeom prst="roundRect">
            <a:avLst>
              <a:gd fmla="val 14545" name="adj"/>
            </a:avLst>
          </a:prstGeom>
          <a:solidFill>
            <a:srgbClr val="0277B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7"/>
          <p:cNvSpPr/>
          <p:nvPr/>
        </p:nvSpPr>
        <p:spPr>
          <a:xfrm>
            <a:off x="5486400" y="1143000"/>
            <a:ext cx="1508760" cy="27660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7178040" y="1097280"/>
            <a:ext cx="1600200" cy="502920"/>
          </a:xfrm>
          <a:prstGeom prst="roundRect">
            <a:avLst>
              <a:gd fmla="val 14545" name="adj"/>
            </a:avLst>
          </a:prstGeom>
          <a:solidFill>
            <a:srgbClr val="0277B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7"/>
          <p:cNvSpPr/>
          <p:nvPr/>
        </p:nvSpPr>
        <p:spPr>
          <a:xfrm>
            <a:off x="7223760" y="1143000"/>
            <a:ext cx="1508760" cy="27660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Blob Storage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5440680" y="1737360"/>
            <a:ext cx="1600200" cy="502920"/>
          </a:xfrm>
          <a:prstGeom prst="roundRect">
            <a:avLst>
              <a:gd fmla="val 14545" name="adj"/>
            </a:avLst>
          </a:prstGeom>
          <a:solidFill>
            <a:srgbClr val="6A1B9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7"/>
          <p:cNvSpPr/>
          <p:nvPr/>
        </p:nvSpPr>
        <p:spPr>
          <a:xfrm>
            <a:off x="5486400" y="1783080"/>
            <a:ext cx="1508760" cy="27660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OpenAI GPT-4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7178040" y="1737360"/>
            <a:ext cx="1600200" cy="502920"/>
          </a:xfrm>
          <a:prstGeom prst="roundRect">
            <a:avLst>
              <a:gd fmla="val 14545" name="adj"/>
            </a:avLst>
          </a:prstGeom>
          <a:solidFill>
            <a:srgbClr val="6A1B9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7223760" y="1783080"/>
            <a:ext cx="1508760" cy="27660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 Intelligence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5440680" y="2377440"/>
            <a:ext cx="1600200" cy="502920"/>
          </a:xfrm>
          <a:prstGeom prst="roundRect">
            <a:avLst>
              <a:gd fmla="val 14545" name="adj"/>
            </a:avLst>
          </a:prstGeom>
          <a:solidFill>
            <a:srgbClr val="E65100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7"/>
          <p:cNvSpPr/>
          <p:nvPr/>
        </p:nvSpPr>
        <p:spPr>
          <a:xfrm>
            <a:off x="5486400" y="2423160"/>
            <a:ext cx="1508760" cy="27660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Service Bus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7178040" y="2377440"/>
            <a:ext cx="1600200" cy="502920"/>
          </a:xfrm>
          <a:prstGeom prst="roundRect">
            <a:avLst>
              <a:gd fmla="val 14545" name="adj"/>
            </a:avLst>
          </a:prstGeom>
          <a:solidFill>
            <a:srgbClr val="AD1457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7"/>
          <p:cNvSpPr/>
          <p:nvPr/>
        </p:nvSpPr>
        <p:spPr>
          <a:xfrm>
            <a:off x="7223760" y="2423160"/>
            <a:ext cx="1508760" cy="27660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Vault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5440680" y="3017520"/>
            <a:ext cx="1600200" cy="502920"/>
          </a:xfrm>
          <a:prstGeom prst="roundRect">
            <a:avLst>
              <a:gd fmla="val 14545" name="adj"/>
            </a:avLst>
          </a:prstGeom>
          <a:solidFill>
            <a:srgbClr val="00796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7"/>
          <p:cNvSpPr/>
          <p:nvPr/>
        </p:nvSpPr>
        <p:spPr>
          <a:xfrm>
            <a:off x="5486400" y="3063240"/>
            <a:ext cx="1508760" cy="27660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 Insights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7178040" y="3017520"/>
            <a:ext cx="1600200" cy="502920"/>
          </a:xfrm>
          <a:prstGeom prst="roundRect">
            <a:avLst>
              <a:gd fmla="val 14545" name="adj"/>
            </a:avLst>
          </a:prstGeom>
          <a:solidFill>
            <a:srgbClr val="1565C0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7223760" y="3063240"/>
            <a:ext cx="1508760" cy="27660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Entra 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1737360" y="685800"/>
            <a:ext cx="3474720" cy="3291840"/>
          </a:xfrm>
          <a:prstGeom prst="roundRect">
            <a:avLst>
              <a:gd fmla="val 2778" name="adj"/>
            </a:avLst>
          </a:prstGeom>
          <a:solidFill>
            <a:srgbClr val="000000">
              <a:alpha val="0"/>
            </a:srgbClr>
          </a:solidFill>
          <a:ln cap="flat" cmpd="sng" w="12700">
            <a:solidFill>
              <a:srgbClr val="4FC3F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1874520" y="713232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VNet (10.0.0.0/16) — 5 Subnets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182880" y="3840480"/>
            <a:ext cx="8778240" cy="640080"/>
          </a:xfrm>
          <a:prstGeom prst="roundRect">
            <a:avLst>
              <a:gd fmla="val 11429" name="adj"/>
            </a:avLst>
          </a:prstGeom>
          <a:solidFill>
            <a:srgbClr val="091520"/>
          </a:solidFill>
          <a:ln cap="flat" cmpd="sng" w="12700">
            <a:solidFill>
              <a:srgbClr val="00BFA5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365760" y="390448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0BFA5"/>
                </a:solidFill>
                <a:latin typeface="Calibri"/>
                <a:ea typeface="Calibri"/>
                <a:cs typeface="Calibri"/>
                <a:sym typeface="Calibri"/>
              </a:rPr>
              <a:t>Microservices: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1417320" y="3904488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auth-service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2487168" y="3904488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profile-service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3557016" y="3904488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diet-service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4626864" y="3904488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document-service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5696712" y="3904488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health-service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6766560" y="3904488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notification-service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7836408" y="3904488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admin-service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D42"/>
          </a:solidFill>
          <a:ln cap="flat" cmpd="sng" w="12700">
            <a:solidFill>
              <a:srgbClr val="1A2D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Azure Resources Used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8"/>
          <p:cNvSpPr/>
          <p:nvPr/>
        </p:nvSpPr>
        <p:spPr>
          <a:xfrm>
            <a:off x="274320" y="749808"/>
            <a:ext cx="4206240" cy="530352"/>
          </a:xfrm>
          <a:prstGeom prst="roundRect">
            <a:avLst>
              <a:gd fmla="val 12069" name="adj"/>
            </a:avLst>
          </a:prstGeom>
          <a:solidFill>
            <a:srgbClr val="152236"/>
          </a:solidFill>
          <a:ln cap="flat" cmpd="sng" w="12700">
            <a:solidFill>
              <a:srgbClr val="1522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347472" y="841248"/>
            <a:ext cx="54864" cy="347472"/>
          </a:xfrm>
          <a:prstGeom prst="roundRect">
            <a:avLst>
              <a:gd fmla="val 50000" name="adj"/>
            </a:avLst>
          </a:prstGeom>
          <a:solidFill>
            <a:srgbClr val="0277BD"/>
          </a:solidFill>
          <a:ln cap="flat" cmpd="sng" w="12700">
            <a:solidFill>
              <a:srgbClr val="0277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475488" y="813816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 Service (×2)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475488" y="1042416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Frontend (Nginx) + Backend (FastAPI)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274320" y="1362456"/>
            <a:ext cx="4206240" cy="530352"/>
          </a:xfrm>
          <a:prstGeom prst="roundRect">
            <a:avLst>
              <a:gd fmla="val 12069" name="adj"/>
            </a:avLst>
          </a:prstGeom>
          <a:solidFill>
            <a:srgbClr val="152236"/>
          </a:solidFill>
          <a:ln cap="flat" cmpd="sng" w="12700">
            <a:solidFill>
              <a:srgbClr val="1522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347472" y="1453896"/>
            <a:ext cx="54864" cy="347472"/>
          </a:xfrm>
          <a:prstGeom prst="roundRect">
            <a:avLst>
              <a:gd fmla="val 50000" name="adj"/>
            </a:avLst>
          </a:prstGeom>
          <a:solidFill>
            <a:srgbClr val="0277BD"/>
          </a:solidFill>
          <a:ln cap="flat" cmpd="sng" w="12700">
            <a:solidFill>
              <a:srgbClr val="0277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475488" y="1426464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 Service Plan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475488" y="1655064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Shared Linux plan (B1 dev / P1v2 prod)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274320" y="1975104"/>
            <a:ext cx="4206240" cy="530352"/>
          </a:xfrm>
          <a:prstGeom prst="roundRect">
            <a:avLst>
              <a:gd fmla="val 12069" name="adj"/>
            </a:avLst>
          </a:prstGeom>
          <a:solidFill>
            <a:srgbClr val="152236"/>
          </a:solidFill>
          <a:ln cap="flat" cmpd="sng" w="12700">
            <a:solidFill>
              <a:srgbClr val="1522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347472" y="2066544"/>
            <a:ext cx="54864" cy="347472"/>
          </a:xfrm>
          <a:prstGeom prst="roundRect">
            <a:avLst>
              <a:gd fmla="val 50000" name="adj"/>
            </a:avLst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475488" y="2039112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Application Gateway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475488" y="226771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Path-based routing, load balancing, health probes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274320" y="2587752"/>
            <a:ext cx="4206240" cy="530352"/>
          </a:xfrm>
          <a:prstGeom prst="roundRect">
            <a:avLst>
              <a:gd fmla="val 12069" name="adj"/>
            </a:avLst>
          </a:prstGeom>
          <a:solidFill>
            <a:srgbClr val="152236"/>
          </a:solidFill>
          <a:ln cap="flat" cmpd="sng" w="12700">
            <a:solidFill>
              <a:srgbClr val="1522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8"/>
          <p:cNvSpPr/>
          <p:nvPr/>
        </p:nvSpPr>
        <p:spPr>
          <a:xfrm>
            <a:off x="347472" y="2679192"/>
            <a:ext cx="54864" cy="347472"/>
          </a:xfrm>
          <a:prstGeom prst="roundRect">
            <a:avLst>
              <a:gd fmla="val 50000" name="adj"/>
            </a:avLst>
          </a:prstGeom>
          <a:solidFill>
            <a:srgbClr val="AD1457"/>
          </a:solidFill>
          <a:ln cap="flat" cmpd="sng" w="12700">
            <a:solidFill>
              <a:srgbClr val="AD14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475488" y="2651760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PostgreSQL Flexible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475488" y="288036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Primary database, private VNet access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274320" y="3200400"/>
            <a:ext cx="4206240" cy="530352"/>
          </a:xfrm>
          <a:prstGeom prst="roundRect">
            <a:avLst>
              <a:gd fmla="val 12069" name="adj"/>
            </a:avLst>
          </a:prstGeom>
          <a:solidFill>
            <a:srgbClr val="152236"/>
          </a:solidFill>
          <a:ln cap="flat" cmpd="sng" w="12700">
            <a:solidFill>
              <a:srgbClr val="1522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347472" y="3291840"/>
            <a:ext cx="54864" cy="347472"/>
          </a:xfrm>
          <a:prstGeom prst="roundRect">
            <a:avLst>
              <a:gd fmla="val 50000" name="adj"/>
            </a:avLst>
          </a:prstGeom>
          <a:solidFill>
            <a:srgbClr val="00796B"/>
          </a:solidFill>
          <a:ln cap="flat" cmpd="sng" w="12700">
            <a:solidFill>
              <a:srgbClr val="007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475488" y="3264408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Blob Storage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475488" y="3493008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Document storage (prescriptions, lab reports)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274320" y="3813048"/>
            <a:ext cx="4206240" cy="530352"/>
          </a:xfrm>
          <a:prstGeom prst="roundRect">
            <a:avLst>
              <a:gd fmla="val 12069" name="adj"/>
            </a:avLst>
          </a:prstGeom>
          <a:solidFill>
            <a:srgbClr val="152236"/>
          </a:solidFill>
          <a:ln cap="flat" cmpd="sng" w="12700">
            <a:solidFill>
              <a:srgbClr val="1522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8"/>
          <p:cNvSpPr/>
          <p:nvPr/>
        </p:nvSpPr>
        <p:spPr>
          <a:xfrm>
            <a:off x="347472" y="3904488"/>
            <a:ext cx="54864" cy="347472"/>
          </a:xfrm>
          <a:prstGeom prst="roundRect">
            <a:avLst>
              <a:gd fmla="val 50000" name="adj"/>
            </a:avLst>
          </a:prstGeom>
          <a:solidFill>
            <a:srgbClr val="4527A0"/>
          </a:solidFill>
          <a:ln cap="flat" cmpd="sng" w="12700">
            <a:solidFill>
              <a:srgbClr val="452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8"/>
          <p:cNvSpPr/>
          <p:nvPr/>
        </p:nvSpPr>
        <p:spPr>
          <a:xfrm>
            <a:off x="475488" y="3877056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Container Registry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475488" y="4105656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Docker image hosting (ACR)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274320" y="4425696"/>
            <a:ext cx="4206240" cy="530352"/>
          </a:xfrm>
          <a:prstGeom prst="roundRect">
            <a:avLst>
              <a:gd fmla="val 12069" name="adj"/>
            </a:avLst>
          </a:prstGeom>
          <a:solidFill>
            <a:srgbClr val="152236"/>
          </a:solidFill>
          <a:ln cap="flat" cmpd="sng" w="12700">
            <a:solidFill>
              <a:srgbClr val="1522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8"/>
          <p:cNvSpPr/>
          <p:nvPr/>
        </p:nvSpPr>
        <p:spPr>
          <a:xfrm>
            <a:off x="347472" y="4517136"/>
            <a:ext cx="54864" cy="347472"/>
          </a:xfrm>
          <a:prstGeom prst="roundRect">
            <a:avLst>
              <a:gd fmla="val 50000" name="adj"/>
            </a:avLst>
          </a:prstGeom>
          <a:solidFill>
            <a:srgbClr val="6A1B9A"/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8"/>
          <p:cNvSpPr/>
          <p:nvPr/>
        </p:nvSpPr>
        <p:spPr>
          <a:xfrm>
            <a:off x="475488" y="4489704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Azure OpenAI (GPT-4)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475488" y="4718304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AI diet plan generation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4663440" y="749808"/>
            <a:ext cx="4206240" cy="530352"/>
          </a:xfrm>
          <a:prstGeom prst="roundRect">
            <a:avLst>
              <a:gd fmla="val 12069" name="adj"/>
            </a:avLst>
          </a:prstGeom>
          <a:solidFill>
            <a:srgbClr val="152236"/>
          </a:solidFill>
          <a:ln cap="flat" cmpd="sng" w="12700">
            <a:solidFill>
              <a:srgbClr val="1522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8"/>
          <p:cNvSpPr/>
          <p:nvPr/>
        </p:nvSpPr>
        <p:spPr>
          <a:xfrm>
            <a:off x="4736592" y="841248"/>
            <a:ext cx="54864" cy="347472"/>
          </a:xfrm>
          <a:prstGeom prst="roundRect">
            <a:avLst>
              <a:gd fmla="val 50000" name="adj"/>
            </a:avLst>
          </a:prstGeom>
          <a:solidFill>
            <a:srgbClr val="6A1B9A"/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8"/>
          <p:cNvSpPr/>
          <p:nvPr/>
        </p:nvSpPr>
        <p:spPr>
          <a:xfrm>
            <a:off x="4864608" y="813816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Document Intelligence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4864608" y="1042416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OCR text extraction from documents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4663440" y="1362456"/>
            <a:ext cx="4206240" cy="530352"/>
          </a:xfrm>
          <a:prstGeom prst="roundRect">
            <a:avLst>
              <a:gd fmla="val 12069" name="adj"/>
            </a:avLst>
          </a:prstGeom>
          <a:solidFill>
            <a:srgbClr val="152236"/>
          </a:solidFill>
          <a:ln cap="flat" cmpd="sng" w="12700">
            <a:solidFill>
              <a:srgbClr val="1522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8"/>
          <p:cNvSpPr/>
          <p:nvPr/>
        </p:nvSpPr>
        <p:spPr>
          <a:xfrm>
            <a:off x="4736592" y="1453896"/>
            <a:ext cx="54864" cy="347472"/>
          </a:xfrm>
          <a:prstGeom prst="roundRect">
            <a:avLst>
              <a:gd fmla="val 50000" name="adj"/>
            </a:avLst>
          </a:prstGeom>
          <a:solidFill>
            <a:srgbClr val="E65100"/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4864608" y="1426464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Service Bus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4864608" y="1655064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Async messaging — meal reminders topic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4663440" y="1975104"/>
            <a:ext cx="4206240" cy="530352"/>
          </a:xfrm>
          <a:prstGeom prst="roundRect">
            <a:avLst>
              <a:gd fmla="val 12069" name="adj"/>
            </a:avLst>
          </a:prstGeom>
          <a:solidFill>
            <a:srgbClr val="152236"/>
          </a:solidFill>
          <a:ln cap="flat" cmpd="sng" w="12700">
            <a:solidFill>
              <a:srgbClr val="1522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8"/>
          <p:cNvSpPr/>
          <p:nvPr/>
        </p:nvSpPr>
        <p:spPr>
          <a:xfrm>
            <a:off x="4736592" y="2066544"/>
            <a:ext cx="54864" cy="347472"/>
          </a:xfrm>
          <a:prstGeom prst="roundRect">
            <a:avLst>
              <a:gd fmla="val 50000" name="adj"/>
            </a:avLst>
          </a:prstGeom>
          <a:solidFill>
            <a:srgbClr val="B71C1C"/>
          </a:solidFill>
          <a:ln cap="flat" cmpd="sng" w="12700">
            <a:solidFill>
              <a:srgbClr val="B7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8"/>
          <p:cNvSpPr/>
          <p:nvPr/>
        </p:nvSpPr>
        <p:spPr>
          <a:xfrm>
            <a:off x="4864608" y="2039112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Vault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4864608" y="226771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Secrets management, purge protection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4663440" y="2587752"/>
            <a:ext cx="4206240" cy="530352"/>
          </a:xfrm>
          <a:prstGeom prst="roundRect">
            <a:avLst>
              <a:gd fmla="val 12069" name="adj"/>
            </a:avLst>
          </a:prstGeom>
          <a:solidFill>
            <a:srgbClr val="152236"/>
          </a:solidFill>
          <a:ln cap="flat" cmpd="sng" w="12700">
            <a:solidFill>
              <a:srgbClr val="1522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8"/>
          <p:cNvSpPr/>
          <p:nvPr/>
        </p:nvSpPr>
        <p:spPr>
          <a:xfrm>
            <a:off x="4736592" y="2679192"/>
            <a:ext cx="54864" cy="347472"/>
          </a:xfrm>
          <a:prstGeom prst="roundRect">
            <a:avLst>
              <a:gd fmla="val 50000" name="adj"/>
            </a:avLst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8"/>
          <p:cNvSpPr/>
          <p:nvPr/>
        </p:nvSpPr>
        <p:spPr>
          <a:xfrm>
            <a:off x="4864608" y="2651760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Virtual Network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4864608" y="288036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5 subnets, private DNS zones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4663440" y="3200400"/>
            <a:ext cx="4206240" cy="530352"/>
          </a:xfrm>
          <a:prstGeom prst="roundRect">
            <a:avLst>
              <a:gd fmla="val 12069" name="adj"/>
            </a:avLst>
          </a:prstGeom>
          <a:solidFill>
            <a:srgbClr val="152236"/>
          </a:solidFill>
          <a:ln cap="flat" cmpd="sng" w="12700">
            <a:solidFill>
              <a:srgbClr val="1522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8"/>
          <p:cNvSpPr/>
          <p:nvPr/>
        </p:nvSpPr>
        <p:spPr>
          <a:xfrm>
            <a:off x="4736592" y="3291840"/>
            <a:ext cx="54864" cy="347472"/>
          </a:xfrm>
          <a:prstGeom prst="roundRect">
            <a:avLst>
              <a:gd fmla="val 50000" name="adj"/>
            </a:avLst>
          </a:prstGeom>
          <a:solidFill>
            <a:srgbClr val="00796B"/>
          </a:solidFill>
          <a:ln cap="flat" cmpd="sng" w="12700">
            <a:solidFill>
              <a:srgbClr val="007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8"/>
          <p:cNvSpPr/>
          <p:nvPr/>
        </p:nvSpPr>
        <p:spPr>
          <a:xfrm>
            <a:off x="4864608" y="3264408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 Insights + Monitor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4864608" y="3493008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CPU, response time, error rate alerts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4663440" y="3813048"/>
            <a:ext cx="4206240" cy="530352"/>
          </a:xfrm>
          <a:prstGeom prst="roundRect">
            <a:avLst>
              <a:gd fmla="val 12069" name="adj"/>
            </a:avLst>
          </a:prstGeom>
          <a:solidFill>
            <a:srgbClr val="152236"/>
          </a:solidFill>
          <a:ln cap="flat" cmpd="sng" w="12700">
            <a:solidFill>
              <a:srgbClr val="1522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8"/>
          <p:cNvSpPr/>
          <p:nvPr/>
        </p:nvSpPr>
        <p:spPr>
          <a:xfrm>
            <a:off x="4736592" y="3904488"/>
            <a:ext cx="54864" cy="347472"/>
          </a:xfrm>
          <a:prstGeom prst="roundRect">
            <a:avLst>
              <a:gd fmla="val 50000" name="adj"/>
            </a:avLst>
          </a:prstGeom>
          <a:solidFill>
            <a:srgbClr val="0277BD"/>
          </a:solidFill>
          <a:ln cap="flat" cmpd="sng" w="12700">
            <a:solidFill>
              <a:srgbClr val="0277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8"/>
          <p:cNvSpPr/>
          <p:nvPr/>
        </p:nvSpPr>
        <p:spPr>
          <a:xfrm>
            <a:off x="4864608" y="3877056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Microsoft Entra ID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8"/>
          <p:cNvSpPr/>
          <p:nvPr/>
        </p:nvSpPr>
        <p:spPr>
          <a:xfrm>
            <a:off x="4864608" y="4105656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SSO authentication (OAuth 2.0)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4663440" y="4425696"/>
            <a:ext cx="4206240" cy="530352"/>
          </a:xfrm>
          <a:prstGeom prst="roundRect">
            <a:avLst>
              <a:gd fmla="val 12069" name="adj"/>
            </a:avLst>
          </a:prstGeom>
          <a:solidFill>
            <a:srgbClr val="152236"/>
          </a:solidFill>
          <a:ln cap="flat" cmpd="sng" w="12700">
            <a:solidFill>
              <a:srgbClr val="1522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8"/>
          <p:cNvSpPr/>
          <p:nvPr/>
        </p:nvSpPr>
        <p:spPr>
          <a:xfrm>
            <a:off x="4736592" y="4517136"/>
            <a:ext cx="54864" cy="347472"/>
          </a:xfrm>
          <a:prstGeom prst="roundRect">
            <a:avLst>
              <a:gd fmla="val 50000" name="adj"/>
            </a:avLst>
          </a:prstGeom>
          <a:solidFill>
            <a:srgbClr val="00838F"/>
          </a:solidFill>
          <a:ln cap="flat" cmpd="sng" w="12700">
            <a:solidFill>
              <a:srgbClr val="008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8"/>
          <p:cNvSpPr/>
          <p:nvPr/>
        </p:nvSpPr>
        <p:spPr>
          <a:xfrm>
            <a:off x="4864608" y="4489704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 Analytics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8"/>
          <p:cNvSpPr/>
          <p:nvPr/>
        </p:nvSpPr>
        <p:spPr>
          <a:xfrm>
            <a:off x="4864608" y="4718304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Centralized workspace for all logs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9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D42"/>
          </a:solidFill>
          <a:ln cap="flat" cmpd="sng" w="12700">
            <a:solidFill>
              <a:srgbClr val="1A2D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9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Secrets Management — Azure Key Vault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9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FFB74D"/>
          </a:solidFill>
          <a:ln cap="flat" cmpd="sng" w="12700">
            <a:solidFill>
              <a:srgbClr val="FFB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9"/>
          <p:cNvSpPr/>
          <p:nvPr/>
        </p:nvSpPr>
        <p:spPr>
          <a:xfrm>
            <a:off x="320040" y="822960"/>
            <a:ext cx="731520" cy="731520"/>
          </a:xfrm>
          <a:prstGeom prst="ellipse">
            <a:avLst/>
          </a:prstGeom>
          <a:solidFill>
            <a:srgbClr val="B71C1C"/>
          </a:solidFill>
          <a:ln cap="flat" cmpd="sng" w="12700">
            <a:solidFill>
              <a:srgbClr val="B7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9"/>
          <p:cNvSpPr/>
          <p:nvPr/>
        </p:nvSpPr>
        <p:spPr>
          <a:xfrm>
            <a:off x="320040" y="82296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/>
          <p:nvPr/>
        </p:nvSpPr>
        <p:spPr>
          <a:xfrm>
            <a:off x="1188720" y="8229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Critical Secrets Stored in Key Vault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1188720" y="11887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Auto-generated, never hardcoded, injected via App Settings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9"/>
          <p:cNvSpPr/>
          <p:nvPr/>
        </p:nvSpPr>
        <p:spPr>
          <a:xfrm>
            <a:off x="320040" y="1691640"/>
            <a:ext cx="4114800" cy="777240"/>
          </a:xfrm>
          <a:prstGeom prst="roundRect">
            <a:avLst>
              <a:gd fmla="val 9412" name="adj"/>
            </a:avLst>
          </a:prstGeom>
          <a:solidFill>
            <a:srgbClr val="1A1A2E"/>
          </a:solidFill>
          <a:ln cap="flat" cmpd="sng" w="12700">
            <a:solidFill>
              <a:srgbClr val="B71C1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9"/>
          <p:cNvSpPr/>
          <p:nvPr/>
        </p:nvSpPr>
        <p:spPr>
          <a:xfrm>
            <a:off x="457200" y="178308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74D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B74D"/>
                </a:solidFill>
                <a:latin typeface="Calibri"/>
                <a:ea typeface="Calibri"/>
                <a:cs typeface="Calibri"/>
                <a:sym typeface="Calibri"/>
              </a:rPr>
              <a:t>🔏  jwt-secret-key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457200" y="207568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64-char random password for JWT token signing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9"/>
          <p:cNvSpPr/>
          <p:nvPr/>
        </p:nvSpPr>
        <p:spPr>
          <a:xfrm>
            <a:off x="4709160" y="1691640"/>
            <a:ext cx="4114800" cy="777240"/>
          </a:xfrm>
          <a:prstGeom prst="roundRect">
            <a:avLst>
              <a:gd fmla="val 9412" name="adj"/>
            </a:avLst>
          </a:prstGeom>
          <a:solidFill>
            <a:srgbClr val="1A1A2E"/>
          </a:solidFill>
          <a:ln cap="flat" cmpd="sng" w="12700">
            <a:solidFill>
              <a:srgbClr val="B71C1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9"/>
          <p:cNvSpPr/>
          <p:nvPr/>
        </p:nvSpPr>
        <p:spPr>
          <a:xfrm>
            <a:off x="4846320" y="178308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74D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B74D"/>
                </a:solidFill>
                <a:latin typeface="Calibri"/>
                <a:ea typeface="Calibri"/>
                <a:cs typeface="Calibri"/>
                <a:sym typeface="Calibri"/>
              </a:rPr>
              <a:t>🗃️  db-password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9"/>
          <p:cNvSpPr/>
          <p:nvPr/>
        </p:nvSpPr>
        <p:spPr>
          <a:xfrm>
            <a:off x="4846320" y="207568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32-char password for PostgreSQL admin access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/>
          <p:nvPr/>
        </p:nvSpPr>
        <p:spPr>
          <a:xfrm>
            <a:off x="320040" y="2606040"/>
            <a:ext cx="4114800" cy="777240"/>
          </a:xfrm>
          <a:prstGeom prst="roundRect">
            <a:avLst>
              <a:gd fmla="val 9412" name="adj"/>
            </a:avLst>
          </a:prstGeom>
          <a:solidFill>
            <a:srgbClr val="1A1A2E"/>
          </a:solidFill>
          <a:ln cap="flat" cmpd="sng" w="12700">
            <a:solidFill>
              <a:srgbClr val="B71C1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9"/>
          <p:cNvSpPr/>
          <p:nvPr/>
        </p:nvSpPr>
        <p:spPr>
          <a:xfrm>
            <a:off x="457200" y="269748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74D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B74D"/>
                </a:solidFill>
                <a:latin typeface="Calibri"/>
                <a:ea typeface="Calibri"/>
                <a:cs typeface="Calibri"/>
                <a:sym typeface="Calibri"/>
              </a:rPr>
              <a:t>🏢  entra-client-secret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9"/>
          <p:cNvSpPr/>
          <p:nvPr/>
        </p:nvSpPr>
        <p:spPr>
          <a:xfrm>
            <a:off x="457200" y="299008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Microsoft Entra ID OAuth 2.0 client secret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9"/>
          <p:cNvSpPr/>
          <p:nvPr/>
        </p:nvSpPr>
        <p:spPr>
          <a:xfrm>
            <a:off x="4709160" y="2606040"/>
            <a:ext cx="4114800" cy="777240"/>
          </a:xfrm>
          <a:prstGeom prst="roundRect">
            <a:avLst>
              <a:gd fmla="val 9412" name="adj"/>
            </a:avLst>
          </a:prstGeom>
          <a:solidFill>
            <a:srgbClr val="1A1A2E"/>
          </a:solidFill>
          <a:ln cap="flat" cmpd="sng" w="12700">
            <a:solidFill>
              <a:srgbClr val="B71C1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9"/>
          <p:cNvSpPr/>
          <p:nvPr/>
        </p:nvSpPr>
        <p:spPr>
          <a:xfrm>
            <a:off x="4846320" y="269748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74D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B74D"/>
                </a:solidFill>
                <a:latin typeface="Calibri"/>
                <a:ea typeface="Calibri"/>
                <a:cs typeface="Calibri"/>
                <a:sym typeface="Calibri"/>
              </a:rPr>
              <a:t>📧  smtp-password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9"/>
          <p:cNvSpPr/>
          <p:nvPr/>
        </p:nvSpPr>
        <p:spPr>
          <a:xfrm>
            <a:off x="4846320" y="299008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Email service authentication password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9"/>
          <p:cNvSpPr/>
          <p:nvPr/>
        </p:nvSpPr>
        <p:spPr>
          <a:xfrm>
            <a:off x="320040" y="3566160"/>
            <a:ext cx="850392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00BFA5"/>
                </a:solidFill>
                <a:latin typeface="Calibri"/>
                <a:ea typeface="Calibri"/>
                <a:cs typeface="Calibri"/>
                <a:sym typeface="Calibri"/>
              </a:rPr>
              <a:t>✓  Purge protection enabled — soft delete with 7-day retention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320040" y="3858768"/>
            <a:ext cx="850392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✓  Access policies restrict permissions to Terraform service principal only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320040" y="4151376"/>
            <a:ext cx="850392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✓  Secrets injected into App Service via app_settings — never hardcoded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320040" y="4443984"/>
            <a:ext cx="850392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✓  Terraform auto-generates random passwords using random_password resource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D42"/>
          </a:solidFill>
          <a:ln cap="flat" cmpd="sng" w="12700">
            <a:solidFill>
              <a:srgbClr val="1A2D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0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Infrastructure as Code — Terraform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0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7B42BC"/>
          </a:solidFill>
          <a:ln cap="flat" cmpd="sng" w="12700">
            <a:solidFill>
              <a:srgbClr val="7B42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0"/>
          <p:cNvSpPr/>
          <p:nvPr/>
        </p:nvSpPr>
        <p:spPr>
          <a:xfrm>
            <a:off x="320040" y="777240"/>
            <a:ext cx="3840480" cy="822960"/>
          </a:xfrm>
          <a:prstGeom prst="roundRect">
            <a:avLst>
              <a:gd fmla="val 8889" name="adj"/>
            </a:avLst>
          </a:prstGeom>
          <a:solidFill>
            <a:srgbClr val="152236"/>
          </a:solidFill>
          <a:ln cap="flat" cmpd="sng" w="12700">
            <a:solidFill>
              <a:srgbClr val="7B42B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0"/>
          <p:cNvSpPr/>
          <p:nvPr/>
        </p:nvSpPr>
        <p:spPr>
          <a:xfrm>
            <a:off x="502920" y="86868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93D8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CE93D8"/>
                </a:solidFill>
                <a:latin typeface="Calibri"/>
                <a:ea typeface="Calibri"/>
                <a:cs typeface="Calibri"/>
                <a:sym typeface="Calibri"/>
              </a:rPr>
              <a:t>🏗️  15 Reusable Modules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0"/>
          <p:cNvSpPr/>
          <p:nvPr/>
        </p:nvSpPr>
        <p:spPr>
          <a:xfrm>
            <a:off x="502920" y="1179576"/>
            <a:ext cx="3566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Each module: main.tf + variables.tf + outputs.tf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0"/>
          <p:cNvSpPr/>
          <p:nvPr/>
        </p:nvSpPr>
        <p:spPr>
          <a:xfrm>
            <a:off x="320040" y="1783080"/>
            <a:ext cx="3840480" cy="822960"/>
          </a:xfrm>
          <a:prstGeom prst="roundRect">
            <a:avLst>
              <a:gd fmla="val 8889" name="adj"/>
            </a:avLst>
          </a:prstGeom>
          <a:solidFill>
            <a:srgbClr val="152236"/>
          </a:solidFill>
          <a:ln cap="flat" cmpd="sng" w="12700">
            <a:solidFill>
              <a:srgbClr val="7B42B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0"/>
          <p:cNvSpPr/>
          <p:nvPr/>
        </p:nvSpPr>
        <p:spPr>
          <a:xfrm>
            <a:off x="502920" y="187452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93D8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CE93D8"/>
                </a:solidFill>
                <a:latin typeface="Calibri"/>
                <a:ea typeface="Calibri"/>
                <a:cs typeface="Calibri"/>
                <a:sym typeface="Calibri"/>
              </a:rPr>
              <a:t>☁️  Remote State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0"/>
          <p:cNvSpPr/>
          <p:nvPr/>
        </p:nvSpPr>
        <p:spPr>
          <a:xfrm>
            <a:off x="502920" y="2185416"/>
            <a:ext cx="3566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Backend state stored in Azure Blob Storage container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0"/>
          <p:cNvSpPr/>
          <p:nvPr/>
        </p:nvSpPr>
        <p:spPr>
          <a:xfrm>
            <a:off x="320040" y="2788920"/>
            <a:ext cx="3840480" cy="822960"/>
          </a:xfrm>
          <a:prstGeom prst="roundRect">
            <a:avLst>
              <a:gd fmla="val 8889" name="adj"/>
            </a:avLst>
          </a:prstGeom>
          <a:solidFill>
            <a:srgbClr val="152236"/>
          </a:solidFill>
          <a:ln cap="flat" cmpd="sng" w="12700">
            <a:solidFill>
              <a:srgbClr val="7B42B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0"/>
          <p:cNvSpPr/>
          <p:nvPr/>
        </p:nvSpPr>
        <p:spPr>
          <a:xfrm>
            <a:off x="502920" y="288036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93D8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CE93D8"/>
                </a:solidFill>
                <a:latin typeface="Calibri"/>
                <a:ea typeface="Calibri"/>
                <a:cs typeface="Calibri"/>
                <a:sym typeface="Calibri"/>
              </a:rPr>
              <a:t>📌  Pinned Providers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0"/>
          <p:cNvSpPr/>
          <p:nvPr/>
        </p:nvSpPr>
        <p:spPr>
          <a:xfrm>
            <a:off x="502920" y="3191256"/>
            <a:ext cx="3566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azurerm ~&gt; 3.85  ·  azuread ~&gt; 2.47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0"/>
          <p:cNvSpPr/>
          <p:nvPr/>
        </p:nvSpPr>
        <p:spPr>
          <a:xfrm>
            <a:off x="320040" y="3794760"/>
            <a:ext cx="3840480" cy="822960"/>
          </a:xfrm>
          <a:prstGeom prst="roundRect">
            <a:avLst>
              <a:gd fmla="val 8889" name="adj"/>
            </a:avLst>
          </a:prstGeom>
          <a:solidFill>
            <a:srgbClr val="152236"/>
          </a:solidFill>
          <a:ln cap="flat" cmpd="sng" w="12700">
            <a:solidFill>
              <a:srgbClr val="7B42B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0"/>
          <p:cNvSpPr/>
          <p:nvPr/>
        </p:nvSpPr>
        <p:spPr>
          <a:xfrm>
            <a:off x="502920" y="388620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93D8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CE93D8"/>
                </a:solidFill>
                <a:latin typeface="Calibri"/>
                <a:ea typeface="Calibri"/>
                <a:cs typeface="Calibri"/>
                <a:sym typeface="Calibri"/>
              </a:rPr>
              <a:t>🔄  Full Lifecycle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0"/>
          <p:cNvSpPr/>
          <p:nvPr/>
        </p:nvSpPr>
        <p:spPr>
          <a:xfrm>
            <a:off x="502920" y="4197096"/>
            <a:ext cx="3566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Plan → Apply → Destroy — entire infra is code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0"/>
          <p:cNvSpPr/>
          <p:nvPr/>
        </p:nvSpPr>
        <p:spPr>
          <a:xfrm>
            <a:off x="4434840" y="777240"/>
            <a:ext cx="4389120" cy="3977640"/>
          </a:xfrm>
          <a:prstGeom prst="roundRect">
            <a:avLst>
              <a:gd fmla="val 2299" name="adj"/>
            </a:avLst>
          </a:prstGeom>
          <a:solidFill>
            <a:srgbClr val="0A0A1A"/>
          </a:solidFill>
          <a:ln cap="flat" cmpd="sng" w="12700">
            <a:solidFill>
              <a:srgbClr val="7B42BC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0"/>
          <p:cNvSpPr/>
          <p:nvPr/>
        </p:nvSpPr>
        <p:spPr>
          <a:xfrm>
            <a:off x="4572000" y="86868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E93D8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CE93D8"/>
                </a:solidFill>
                <a:latin typeface="Calibri"/>
                <a:ea typeface="Calibri"/>
                <a:cs typeface="Calibri"/>
                <a:sym typeface="Calibri"/>
              </a:rPr>
              <a:t>15 Terraform Modules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0"/>
          <p:cNvSpPr/>
          <p:nvPr/>
        </p:nvSpPr>
        <p:spPr>
          <a:xfrm>
            <a:off x="4617720" y="1298448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◆  resource_group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0"/>
          <p:cNvSpPr/>
          <p:nvPr/>
        </p:nvSpPr>
        <p:spPr>
          <a:xfrm>
            <a:off x="6766560" y="1298448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◆  vnet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0"/>
          <p:cNvSpPr/>
          <p:nvPr/>
        </p:nvSpPr>
        <p:spPr>
          <a:xfrm>
            <a:off x="4617720" y="1719072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◆  key_vault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0"/>
          <p:cNvSpPr/>
          <p:nvPr/>
        </p:nvSpPr>
        <p:spPr>
          <a:xfrm>
            <a:off x="6766560" y="1719072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◆  postgresql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0"/>
          <p:cNvSpPr/>
          <p:nvPr/>
        </p:nvSpPr>
        <p:spPr>
          <a:xfrm>
            <a:off x="4617720" y="2139696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◆  storage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0"/>
          <p:cNvSpPr/>
          <p:nvPr/>
        </p:nvSpPr>
        <p:spPr>
          <a:xfrm>
            <a:off x="6766560" y="2139696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◆  container_registry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0"/>
          <p:cNvSpPr/>
          <p:nvPr/>
        </p:nvSpPr>
        <p:spPr>
          <a:xfrm>
            <a:off x="4617720" y="2560320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◆  app_service_plan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6766560" y="2560320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◆  app_service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4617720" y="2980944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◆  frontend_app_service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0"/>
          <p:cNvSpPr/>
          <p:nvPr/>
        </p:nvSpPr>
        <p:spPr>
          <a:xfrm>
            <a:off x="6766560" y="2980944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◆  application_gateway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0"/>
          <p:cNvSpPr/>
          <p:nvPr/>
        </p:nvSpPr>
        <p:spPr>
          <a:xfrm>
            <a:off x="4617720" y="3401568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◆  openai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0"/>
          <p:cNvSpPr/>
          <p:nvPr/>
        </p:nvSpPr>
        <p:spPr>
          <a:xfrm>
            <a:off x="6766560" y="3401568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◆  service_bus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0"/>
          <p:cNvSpPr/>
          <p:nvPr/>
        </p:nvSpPr>
        <p:spPr>
          <a:xfrm>
            <a:off x="4617720" y="3822192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◆  monitoring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0"/>
          <p:cNvSpPr/>
          <p:nvPr/>
        </p:nvSpPr>
        <p:spPr>
          <a:xfrm>
            <a:off x="6766560" y="3822192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◆  alerts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0"/>
          <p:cNvSpPr/>
          <p:nvPr/>
        </p:nvSpPr>
        <p:spPr>
          <a:xfrm>
            <a:off x="4617720" y="4242816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◆  entra_id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0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D42"/>
          </a:solidFill>
          <a:ln cap="flat" cmpd="sng" w="12700">
            <a:solidFill>
              <a:srgbClr val="1A2D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Terraform Project Structure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7B42BC"/>
          </a:solidFill>
          <a:ln cap="flat" cmpd="sng" w="12700">
            <a:solidFill>
              <a:srgbClr val="7B42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1"/>
          <p:cNvSpPr/>
          <p:nvPr/>
        </p:nvSpPr>
        <p:spPr>
          <a:xfrm>
            <a:off x="274320" y="749808"/>
            <a:ext cx="3931920" cy="4315968"/>
          </a:xfrm>
          <a:prstGeom prst="roundRect">
            <a:avLst>
              <a:gd fmla="val 2326" name="adj"/>
            </a:avLst>
          </a:prstGeom>
          <a:solidFill>
            <a:srgbClr val="0A1929"/>
          </a:solidFill>
          <a:ln cap="flat" cmpd="sng" w="12700">
            <a:solidFill>
              <a:srgbClr val="7B42BC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1"/>
          <p:cNvSpPr/>
          <p:nvPr/>
        </p:nvSpPr>
        <p:spPr>
          <a:xfrm>
            <a:off x="502920" y="86868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1300"/>
              <a:buFont typeface="Courier New"/>
              <a:buNone/>
            </a:pPr>
            <a:r>
              <a:rPr b="1" i="0" lang="en" sz="1300" u="none" cap="none" strike="noStrike">
                <a:solidFill>
                  <a:srgbClr val="00BFA5"/>
                </a:solidFill>
                <a:latin typeface="Courier New"/>
                <a:ea typeface="Courier New"/>
                <a:cs typeface="Courier New"/>
                <a:sym typeface="Courier New"/>
              </a:rPr>
              <a:t>📁  terraform/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1"/>
          <p:cNvSpPr/>
          <p:nvPr/>
        </p:nvSpPr>
        <p:spPr>
          <a:xfrm>
            <a:off x="594360" y="1207008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93D8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CE93D8"/>
                </a:solidFill>
                <a:latin typeface="Courier New"/>
                <a:ea typeface="Courier New"/>
                <a:cs typeface="Courier New"/>
                <a:sym typeface="Courier New"/>
              </a:rPr>
              <a:t>├─ 📁  environments/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1"/>
          <p:cNvSpPr/>
          <p:nvPr/>
        </p:nvSpPr>
        <p:spPr>
          <a:xfrm>
            <a:off x="594360" y="1435608"/>
            <a:ext cx="33832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90A4AE"/>
                </a:solidFill>
                <a:latin typeface="Courier New"/>
                <a:ea typeface="Courier New"/>
                <a:cs typeface="Courier New"/>
                <a:sym typeface="Courier New"/>
              </a:rPr>
              <a:t>│    ├─ 🔧 dev.tfvars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1"/>
          <p:cNvSpPr/>
          <p:nvPr/>
        </p:nvSpPr>
        <p:spPr>
          <a:xfrm>
            <a:off x="594360" y="1645920"/>
            <a:ext cx="33832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90A4AE"/>
                </a:solidFill>
                <a:latin typeface="Courier New"/>
                <a:ea typeface="Courier New"/>
                <a:cs typeface="Courier New"/>
                <a:sym typeface="Courier New"/>
              </a:rPr>
              <a:t>│    └─ 🔧 prod.tfvars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1"/>
          <p:cNvSpPr/>
          <p:nvPr/>
        </p:nvSpPr>
        <p:spPr>
          <a:xfrm>
            <a:off x="594360" y="1920240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93D8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CE93D8"/>
                </a:solidFill>
                <a:latin typeface="Courier New"/>
                <a:ea typeface="Courier New"/>
                <a:cs typeface="Courier New"/>
                <a:sym typeface="Courier New"/>
              </a:rPr>
              <a:t>├─ 📁  modules/  (13)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1"/>
          <p:cNvSpPr/>
          <p:nvPr/>
        </p:nvSpPr>
        <p:spPr>
          <a:xfrm>
            <a:off x="594360" y="2176272"/>
            <a:ext cx="33832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90A4AE"/>
                </a:solidFill>
                <a:latin typeface="Courier New"/>
                <a:ea typeface="Courier New"/>
                <a:cs typeface="Courier New"/>
                <a:sym typeface="Courier New"/>
              </a:rPr>
              <a:t>│    ├─ 📂 app_service/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1"/>
          <p:cNvSpPr/>
          <p:nvPr/>
        </p:nvSpPr>
        <p:spPr>
          <a:xfrm>
            <a:off x="594360" y="2318004"/>
            <a:ext cx="33832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90A4AE"/>
                </a:solidFill>
                <a:latin typeface="Courier New"/>
                <a:ea typeface="Courier New"/>
                <a:cs typeface="Courier New"/>
                <a:sym typeface="Courier New"/>
              </a:rPr>
              <a:t>│    ├─ 📂 app_service_plan/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1"/>
          <p:cNvSpPr/>
          <p:nvPr/>
        </p:nvSpPr>
        <p:spPr>
          <a:xfrm>
            <a:off x="594360" y="2459736"/>
            <a:ext cx="33832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90A4AE"/>
                </a:solidFill>
                <a:latin typeface="Courier New"/>
                <a:ea typeface="Courier New"/>
                <a:cs typeface="Courier New"/>
                <a:sym typeface="Courier New"/>
              </a:rPr>
              <a:t>│    ├─ 📂 application_gateway/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1"/>
          <p:cNvSpPr/>
          <p:nvPr/>
        </p:nvSpPr>
        <p:spPr>
          <a:xfrm>
            <a:off x="594360" y="2601468"/>
            <a:ext cx="33832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90A4AE"/>
                </a:solidFill>
                <a:latin typeface="Courier New"/>
                <a:ea typeface="Courier New"/>
                <a:cs typeface="Courier New"/>
                <a:sym typeface="Courier New"/>
              </a:rPr>
              <a:t>│    ├─ 📂 container_registry/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1"/>
          <p:cNvSpPr/>
          <p:nvPr/>
        </p:nvSpPr>
        <p:spPr>
          <a:xfrm>
            <a:off x="594360" y="2743200"/>
            <a:ext cx="33832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90A4AE"/>
                </a:solidFill>
                <a:latin typeface="Courier New"/>
                <a:ea typeface="Courier New"/>
                <a:cs typeface="Courier New"/>
                <a:sym typeface="Courier New"/>
              </a:rPr>
              <a:t>│    ├─ 📂 entra_id/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1"/>
          <p:cNvSpPr/>
          <p:nvPr/>
        </p:nvSpPr>
        <p:spPr>
          <a:xfrm>
            <a:off x="594360" y="2884932"/>
            <a:ext cx="33832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90A4AE"/>
                </a:solidFill>
                <a:latin typeface="Courier New"/>
                <a:ea typeface="Courier New"/>
                <a:cs typeface="Courier New"/>
                <a:sym typeface="Courier New"/>
              </a:rPr>
              <a:t>│    ├─ 📂 frontend_app_service/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1"/>
          <p:cNvSpPr/>
          <p:nvPr/>
        </p:nvSpPr>
        <p:spPr>
          <a:xfrm>
            <a:off x="594360" y="3026664"/>
            <a:ext cx="33832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90A4AE"/>
                </a:solidFill>
                <a:latin typeface="Courier New"/>
                <a:ea typeface="Courier New"/>
                <a:cs typeface="Courier New"/>
                <a:sym typeface="Courier New"/>
              </a:rPr>
              <a:t>│    ├─ 📂 key_vault/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1"/>
          <p:cNvSpPr/>
          <p:nvPr/>
        </p:nvSpPr>
        <p:spPr>
          <a:xfrm>
            <a:off x="594360" y="3168396"/>
            <a:ext cx="33832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90A4AE"/>
                </a:solidFill>
                <a:latin typeface="Courier New"/>
                <a:ea typeface="Courier New"/>
                <a:cs typeface="Courier New"/>
                <a:sym typeface="Courier New"/>
              </a:rPr>
              <a:t>│    ├─ 📂 openai/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1"/>
          <p:cNvSpPr/>
          <p:nvPr/>
        </p:nvSpPr>
        <p:spPr>
          <a:xfrm>
            <a:off x="594360" y="3310128"/>
            <a:ext cx="33832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90A4AE"/>
                </a:solidFill>
                <a:latin typeface="Courier New"/>
                <a:ea typeface="Courier New"/>
                <a:cs typeface="Courier New"/>
                <a:sym typeface="Courier New"/>
              </a:rPr>
              <a:t>│    ├─ 📂 postgresql/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1"/>
          <p:cNvSpPr/>
          <p:nvPr/>
        </p:nvSpPr>
        <p:spPr>
          <a:xfrm>
            <a:off x="594360" y="3451860"/>
            <a:ext cx="33832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90A4AE"/>
                </a:solidFill>
                <a:latin typeface="Courier New"/>
                <a:ea typeface="Courier New"/>
                <a:cs typeface="Courier New"/>
                <a:sym typeface="Courier New"/>
              </a:rPr>
              <a:t>│    ├─ 📂 resource_group/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1"/>
          <p:cNvSpPr/>
          <p:nvPr/>
        </p:nvSpPr>
        <p:spPr>
          <a:xfrm>
            <a:off x="594360" y="3593592"/>
            <a:ext cx="33832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90A4AE"/>
                </a:solidFill>
                <a:latin typeface="Courier New"/>
                <a:ea typeface="Courier New"/>
                <a:cs typeface="Courier New"/>
                <a:sym typeface="Courier New"/>
              </a:rPr>
              <a:t>│    ├─ 📂 service_bus/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1"/>
          <p:cNvSpPr/>
          <p:nvPr/>
        </p:nvSpPr>
        <p:spPr>
          <a:xfrm>
            <a:off x="594360" y="3735324"/>
            <a:ext cx="33832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90A4AE"/>
                </a:solidFill>
                <a:latin typeface="Courier New"/>
                <a:ea typeface="Courier New"/>
                <a:cs typeface="Courier New"/>
                <a:sym typeface="Courier New"/>
              </a:rPr>
              <a:t>│    ├─ 📂 storage/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1"/>
          <p:cNvSpPr/>
          <p:nvPr/>
        </p:nvSpPr>
        <p:spPr>
          <a:xfrm>
            <a:off x="594360" y="3877056"/>
            <a:ext cx="33832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90A4AE"/>
                </a:solidFill>
                <a:latin typeface="Courier New"/>
                <a:ea typeface="Courier New"/>
                <a:cs typeface="Courier New"/>
                <a:sym typeface="Courier New"/>
              </a:rPr>
              <a:t>│    └─ 📂 vnet/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1"/>
          <p:cNvSpPr/>
          <p:nvPr/>
        </p:nvSpPr>
        <p:spPr>
          <a:xfrm>
            <a:off x="594360" y="4050792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4FC3F7"/>
                </a:solidFill>
                <a:latin typeface="Courier New"/>
                <a:ea typeface="Courier New"/>
                <a:cs typeface="Courier New"/>
                <a:sym typeface="Courier New"/>
              </a:rPr>
              <a:t>├─ 🔷 main.tf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1"/>
          <p:cNvSpPr/>
          <p:nvPr/>
        </p:nvSpPr>
        <p:spPr>
          <a:xfrm>
            <a:off x="594360" y="4233672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4FC3F7"/>
                </a:solidFill>
                <a:latin typeface="Courier New"/>
                <a:ea typeface="Courier New"/>
                <a:cs typeface="Courier New"/>
                <a:sym typeface="Courier New"/>
              </a:rPr>
              <a:t>├─ 🔷 modules.tf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1"/>
          <p:cNvSpPr/>
          <p:nvPr/>
        </p:nvSpPr>
        <p:spPr>
          <a:xfrm>
            <a:off x="594360" y="4416552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4FC3F7"/>
                </a:solidFill>
                <a:latin typeface="Courier New"/>
                <a:ea typeface="Courier New"/>
                <a:cs typeface="Courier New"/>
                <a:sym typeface="Courier New"/>
              </a:rPr>
              <a:t>├─ 🔷 outputs.tf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1"/>
          <p:cNvSpPr/>
          <p:nvPr/>
        </p:nvSpPr>
        <p:spPr>
          <a:xfrm>
            <a:off x="594360" y="4599432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ourier New"/>
              <a:buNone/>
            </a:pPr>
            <a:r>
              <a:rPr b="0" i="0" lang="en" sz="900" u="none" cap="none" strike="noStrike">
                <a:solidFill>
                  <a:srgbClr val="90A4AE"/>
                </a:solidFill>
                <a:latin typeface="Courier New"/>
                <a:ea typeface="Courier New"/>
                <a:cs typeface="Courier New"/>
                <a:sym typeface="Courier New"/>
              </a:rPr>
              <a:t>├─ 📄 terraform.tfvars.example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1"/>
          <p:cNvSpPr/>
          <p:nvPr/>
        </p:nvSpPr>
        <p:spPr>
          <a:xfrm>
            <a:off x="594360" y="4782312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4FC3F7"/>
                </a:solidFill>
                <a:latin typeface="Courier New"/>
                <a:ea typeface="Courier New"/>
                <a:cs typeface="Courier New"/>
                <a:sym typeface="Courier New"/>
              </a:rPr>
              <a:t>└─ 🔷 variables.tf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1"/>
          <p:cNvSpPr/>
          <p:nvPr/>
        </p:nvSpPr>
        <p:spPr>
          <a:xfrm>
            <a:off x="4434840" y="749808"/>
            <a:ext cx="4434840" cy="1143000"/>
          </a:xfrm>
          <a:prstGeom prst="roundRect">
            <a:avLst>
              <a:gd fmla="val 6400" name="adj"/>
            </a:avLst>
          </a:prstGeom>
          <a:solidFill>
            <a:srgbClr val="152236"/>
          </a:solidFill>
          <a:ln cap="flat" cmpd="sng" w="12700">
            <a:solidFill>
              <a:srgbClr val="00BFA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1"/>
          <p:cNvSpPr/>
          <p:nvPr/>
        </p:nvSpPr>
        <p:spPr>
          <a:xfrm>
            <a:off x="4507992" y="822960"/>
            <a:ext cx="1463040" cy="274320"/>
          </a:xfrm>
          <a:prstGeom prst="roundRect">
            <a:avLst>
              <a:gd fmla="val 16667" name="adj"/>
            </a:avLst>
          </a:prstGeom>
          <a:solidFill>
            <a:srgbClr val="1B5E20"/>
          </a:solidFill>
          <a:ln cap="flat" cmpd="sng" w="12700">
            <a:solidFill>
              <a:srgbClr val="1B5E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1"/>
          <p:cNvSpPr/>
          <p:nvPr/>
        </p:nvSpPr>
        <p:spPr>
          <a:xfrm>
            <a:off x="4507992" y="82296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environments/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1"/>
          <p:cNvSpPr/>
          <p:nvPr/>
        </p:nvSpPr>
        <p:spPr>
          <a:xfrm>
            <a:off x="4572000" y="1170432"/>
            <a:ext cx="4160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Workspace-specific variable files for dev and prod. Passed at plan/apply time via -var-file flag. Controls SKUs, instance counts, and resource naming prefixes.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1"/>
          <p:cNvSpPr/>
          <p:nvPr/>
        </p:nvSpPr>
        <p:spPr>
          <a:xfrm>
            <a:off x="4434840" y="2011680"/>
            <a:ext cx="4434840" cy="1691640"/>
          </a:xfrm>
          <a:prstGeom prst="roundRect">
            <a:avLst>
              <a:gd fmla="val 4324" name="adj"/>
            </a:avLst>
          </a:prstGeom>
          <a:solidFill>
            <a:srgbClr val="152236"/>
          </a:solidFill>
          <a:ln cap="flat" cmpd="sng" w="12700">
            <a:solidFill>
              <a:srgbClr val="7B42BC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1"/>
          <p:cNvSpPr/>
          <p:nvPr/>
        </p:nvSpPr>
        <p:spPr>
          <a:xfrm>
            <a:off x="4507992" y="2084832"/>
            <a:ext cx="1463040" cy="274320"/>
          </a:xfrm>
          <a:prstGeom prst="roundRect">
            <a:avLst>
              <a:gd fmla="val 16667" name="adj"/>
            </a:avLst>
          </a:prstGeom>
          <a:solidFill>
            <a:srgbClr val="4A148C"/>
          </a:solidFill>
          <a:ln cap="flat" cmpd="sng" w="12700">
            <a:solidFill>
              <a:srgbClr val="4A14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1"/>
          <p:cNvSpPr/>
          <p:nvPr/>
        </p:nvSpPr>
        <p:spPr>
          <a:xfrm>
            <a:off x="4507992" y="208483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modules/ (13)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1"/>
          <p:cNvSpPr/>
          <p:nvPr/>
        </p:nvSpPr>
        <p:spPr>
          <a:xfrm>
            <a:off x="4572000" y="2432304"/>
            <a:ext cx="4160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Each module is self-contained:  main.tf · variables.tf · outputs.tf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1"/>
          <p:cNvSpPr/>
          <p:nvPr/>
        </p:nvSpPr>
        <p:spPr>
          <a:xfrm>
            <a:off x="4572000" y="2761488"/>
            <a:ext cx="1325880" cy="201168"/>
          </a:xfrm>
          <a:prstGeom prst="roundRect">
            <a:avLst>
              <a:gd fmla="val 18182" name="adj"/>
            </a:avLst>
          </a:prstGeom>
          <a:solidFill>
            <a:srgbClr val="1A0A2E"/>
          </a:solidFill>
          <a:ln cap="flat" cmpd="sng" w="12700">
            <a:solidFill>
              <a:srgbClr val="7B42BC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1"/>
          <p:cNvSpPr/>
          <p:nvPr/>
        </p:nvSpPr>
        <p:spPr>
          <a:xfrm>
            <a:off x="4572000" y="2761488"/>
            <a:ext cx="1325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E93D8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CE93D8"/>
                </a:solidFill>
                <a:latin typeface="Calibri"/>
                <a:ea typeface="Calibri"/>
                <a:cs typeface="Calibri"/>
                <a:sym typeface="Calibri"/>
              </a:rPr>
              <a:t>app_service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1"/>
          <p:cNvSpPr/>
          <p:nvPr/>
        </p:nvSpPr>
        <p:spPr>
          <a:xfrm>
            <a:off x="5961888" y="2761488"/>
            <a:ext cx="1325880" cy="201168"/>
          </a:xfrm>
          <a:prstGeom prst="roundRect">
            <a:avLst>
              <a:gd fmla="val 18182" name="adj"/>
            </a:avLst>
          </a:prstGeom>
          <a:solidFill>
            <a:srgbClr val="1A0A2E"/>
          </a:solidFill>
          <a:ln cap="flat" cmpd="sng" w="12700">
            <a:solidFill>
              <a:srgbClr val="7B42BC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1"/>
          <p:cNvSpPr/>
          <p:nvPr/>
        </p:nvSpPr>
        <p:spPr>
          <a:xfrm>
            <a:off x="5961888" y="2761488"/>
            <a:ext cx="1325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E93D8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CE93D8"/>
                </a:solidFill>
                <a:latin typeface="Calibri"/>
                <a:ea typeface="Calibri"/>
                <a:cs typeface="Calibri"/>
                <a:sym typeface="Calibri"/>
              </a:rPr>
              <a:t>app_service_plan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1"/>
          <p:cNvSpPr/>
          <p:nvPr/>
        </p:nvSpPr>
        <p:spPr>
          <a:xfrm>
            <a:off x="7351776" y="2761488"/>
            <a:ext cx="1325880" cy="201168"/>
          </a:xfrm>
          <a:prstGeom prst="roundRect">
            <a:avLst>
              <a:gd fmla="val 18182" name="adj"/>
            </a:avLst>
          </a:prstGeom>
          <a:solidFill>
            <a:srgbClr val="1A0A2E"/>
          </a:solidFill>
          <a:ln cap="flat" cmpd="sng" w="12700">
            <a:solidFill>
              <a:srgbClr val="7B42BC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1"/>
          <p:cNvSpPr/>
          <p:nvPr/>
        </p:nvSpPr>
        <p:spPr>
          <a:xfrm>
            <a:off x="7351776" y="2761488"/>
            <a:ext cx="1325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E93D8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CE93D8"/>
                </a:solidFill>
                <a:latin typeface="Calibri"/>
                <a:ea typeface="Calibri"/>
                <a:cs typeface="Calibri"/>
                <a:sym typeface="Calibri"/>
              </a:rPr>
              <a:t>frontend_app_service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1"/>
          <p:cNvSpPr/>
          <p:nvPr/>
        </p:nvSpPr>
        <p:spPr>
          <a:xfrm>
            <a:off x="4572000" y="3017520"/>
            <a:ext cx="1325880" cy="201168"/>
          </a:xfrm>
          <a:prstGeom prst="roundRect">
            <a:avLst>
              <a:gd fmla="val 18182" name="adj"/>
            </a:avLst>
          </a:prstGeom>
          <a:solidFill>
            <a:srgbClr val="1A0A2E"/>
          </a:solidFill>
          <a:ln cap="flat" cmpd="sng" w="12700">
            <a:solidFill>
              <a:srgbClr val="7B42BC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1"/>
          <p:cNvSpPr/>
          <p:nvPr/>
        </p:nvSpPr>
        <p:spPr>
          <a:xfrm>
            <a:off x="4572000" y="3017520"/>
            <a:ext cx="1325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E93D8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CE93D8"/>
                </a:solidFill>
                <a:latin typeface="Calibri"/>
                <a:ea typeface="Calibri"/>
                <a:cs typeface="Calibri"/>
                <a:sym typeface="Calibri"/>
              </a:rPr>
              <a:t>application_gateway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1"/>
          <p:cNvSpPr/>
          <p:nvPr/>
        </p:nvSpPr>
        <p:spPr>
          <a:xfrm>
            <a:off x="5961888" y="3017520"/>
            <a:ext cx="1325880" cy="201168"/>
          </a:xfrm>
          <a:prstGeom prst="roundRect">
            <a:avLst>
              <a:gd fmla="val 18182" name="adj"/>
            </a:avLst>
          </a:prstGeom>
          <a:solidFill>
            <a:srgbClr val="1A0A2E"/>
          </a:solidFill>
          <a:ln cap="flat" cmpd="sng" w="12700">
            <a:solidFill>
              <a:srgbClr val="7B42BC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1"/>
          <p:cNvSpPr/>
          <p:nvPr/>
        </p:nvSpPr>
        <p:spPr>
          <a:xfrm>
            <a:off x="5961888" y="3017520"/>
            <a:ext cx="1325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E93D8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CE93D8"/>
                </a:solidFill>
                <a:latin typeface="Calibri"/>
                <a:ea typeface="Calibri"/>
                <a:cs typeface="Calibri"/>
                <a:sym typeface="Calibri"/>
              </a:rPr>
              <a:t>container_registry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1"/>
          <p:cNvSpPr/>
          <p:nvPr/>
        </p:nvSpPr>
        <p:spPr>
          <a:xfrm>
            <a:off x="7351776" y="3017520"/>
            <a:ext cx="1325880" cy="201168"/>
          </a:xfrm>
          <a:prstGeom prst="roundRect">
            <a:avLst>
              <a:gd fmla="val 18182" name="adj"/>
            </a:avLst>
          </a:prstGeom>
          <a:solidFill>
            <a:srgbClr val="1A0A2E"/>
          </a:solidFill>
          <a:ln cap="flat" cmpd="sng" w="12700">
            <a:solidFill>
              <a:srgbClr val="7B42BC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1"/>
          <p:cNvSpPr/>
          <p:nvPr/>
        </p:nvSpPr>
        <p:spPr>
          <a:xfrm>
            <a:off x="7351776" y="3017520"/>
            <a:ext cx="1325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E93D8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CE93D8"/>
                </a:solidFill>
                <a:latin typeface="Calibri"/>
                <a:ea typeface="Calibri"/>
                <a:cs typeface="Calibri"/>
                <a:sym typeface="Calibri"/>
              </a:rPr>
              <a:t>entra_id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1"/>
          <p:cNvSpPr/>
          <p:nvPr/>
        </p:nvSpPr>
        <p:spPr>
          <a:xfrm>
            <a:off x="4572000" y="3273552"/>
            <a:ext cx="1325880" cy="201168"/>
          </a:xfrm>
          <a:prstGeom prst="roundRect">
            <a:avLst>
              <a:gd fmla="val 18182" name="adj"/>
            </a:avLst>
          </a:prstGeom>
          <a:solidFill>
            <a:srgbClr val="1A0A2E"/>
          </a:solidFill>
          <a:ln cap="flat" cmpd="sng" w="12700">
            <a:solidFill>
              <a:srgbClr val="7B42BC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1"/>
          <p:cNvSpPr/>
          <p:nvPr/>
        </p:nvSpPr>
        <p:spPr>
          <a:xfrm>
            <a:off x="4572000" y="3273552"/>
            <a:ext cx="1325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E93D8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CE93D8"/>
                </a:solidFill>
                <a:latin typeface="Calibri"/>
                <a:ea typeface="Calibri"/>
                <a:cs typeface="Calibri"/>
                <a:sym typeface="Calibri"/>
              </a:rPr>
              <a:t>key_vault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1"/>
          <p:cNvSpPr/>
          <p:nvPr/>
        </p:nvSpPr>
        <p:spPr>
          <a:xfrm>
            <a:off x="5961888" y="3273552"/>
            <a:ext cx="1325880" cy="201168"/>
          </a:xfrm>
          <a:prstGeom prst="roundRect">
            <a:avLst>
              <a:gd fmla="val 18182" name="adj"/>
            </a:avLst>
          </a:prstGeom>
          <a:solidFill>
            <a:srgbClr val="1A0A2E"/>
          </a:solidFill>
          <a:ln cap="flat" cmpd="sng" w="12700">
            <a:solidFill>
              <a:srgbClr val="7B42BC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1"/>
          <p:cNvSpPr/>
          <p:nvPr/>
        </p:nvSpPr>
        <p:spPr>
          <a:xfrm>
            <a:off x="5961888" y="3273552"/>
            <a:ext cx="1325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E93D8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CE93D8"/>
                </a:solidFill>
                <a:latin typeface="Calibri"/>
                <a:ea typeface="Calibri"/>
                <a:cs typeface="Calibri"/>
                <a:sym typeface="Calibri"/>
              </a:rPr>
              <a:t>openai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1"/>
          <p:cNvSpPr/>
          <p:nvPr/>
        </p:nvSpPr>
        <p:spPr>
          <a:xfrm>
            <a:off x="7351776" y="3273552"/>
            <a:ext cx="1325880" cy="201168"/>
          </a:xfrm>
          <a:prstGeom prst="roundRect">
            <a:avLst>
              <a:gd fmla="val 18182" name="adj"/>
            </a:avLst>
          </a:prstGeom>
          <a:solidFill>
            <a:srgbClr val="1A0A2E"/>
          </a:solidFill>
          <a:ln cap="flat" cmpd="sng" w="12700">
            <a:solidFill>
              <a:srgbClr val="7B42BC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1"/>
          <p:cNvSpPr/>
          <p:nvPr/>
        </p:nvSpPr>
        <p:spPr>
          <a:xfrm>
            <a:off x="7351776" y="3273552"/>
            <a:ext cx="1325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E93D8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CE93D8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1"/>
          <p:cNvSpPr/>
          <p:nvPr/>
        </p:nvSpPr>
        <p:spPr>
          <a:xfrm>
            <a:off x="4572000" y="3529584"/>
            <a:ext cx="1325880" cy="201168"/>
          </a:xfrm>
          <a:prstGeom prst="roundRect">
            <a:avLst>
              <a:gd fmla="val 18182" name="adj"/>
            </a:avLst>
          </a:prstGeom>
          <a:solidFill>
            <a:srgbClr val="1A0A2E"/>
          </a:solidFill>
          <a:ln cap="flat" cmpd="sng" w="12700">
            <a:solidFill>
              <a:srgbClr val="7B42BC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1"/>
          <p:cNvSpPr/>
          <p:nvPr/>
        </p:nvSpPr>
        <p:spPr>
          <a:xfrm>
            <a:off x="4572000" y="3529584"/>
            <a:ext cx="1325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E93D8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CE93D8"/>
                </a:solidFill>
                <a:latin typeface="Calibri"/>
                <a:ea typeface="Calibri"/>
                <a:cs typeface="Calibri"/>
                <a:sym typeface="Calibri"/>
              </a:rPr>
              <a:t>resource_group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1"/>
          <p:cNvSpPr/>
          <p:nvPr/>
        </p:nvSpPr>
        <p:spPr>
          <a:xfrm>
            <a:off x="5961888" y="3529584"/>
            <a:ext cx="1325880" cy="201168"/>
          </a:xfrm>
          <a:prstGeom prst="roundRect">
            <a:avLst>
              <a:gd fmla="val 18182" name="adj"/>
            </a:avLst>
          </a:prstGeom>
          <a:solidFill>
            <a:srgbClr val="1A0A2E"/>
          </a:solidFill>
          <a:ln cap="flat" cmpd="sng" w="12700">
            <a:solidFill>
              <a:srgbClr val="7B42BC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1"/>
          <p:cNvSpPr/>
          <p:nvPr/>
        </p:nvSpPr>
        <p:spPr>
          <a:xfrm>
            <a:off x="5961888" y="3529584"/>
            <a:ext cx="1325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E93D8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CE93D8"/>
                </a:solidFill>
                <a:latin typeface="Calibri"/>
                <a:ea typeface="Calibri"/>
                <a:cs typeface="Calibri"/>
                <a:sym typeface="Calibri"/>
              </a:rPr>
              <a:t>service_bus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1"/>
          <p:cNvSpPr/>
          <p:nvPr/>
        </p:nvSpPr>
        <p:spPr>
          <a:xfrm>
            <a:off x="7351776" y="3529584"/>
            <a:ext cx="1325880" cy="201168"/>
          </a:xfrm>
          <a:prstGeom prst="roundRect">
            <a:avLst>
              <a:gd fmla="val 18182" name="adj"/>
            </a:avLst>
          </a:prstGeom>
          <a:solidFill>
            <a:srgbClr val="1A0A2E"/>
          </a:solidFill>
          <a:ln cap="flat" cmpd="sng" w="12700">
            <a:solidFill>
              <a:srgbClr val="7B42BC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1"/>
          <p:cNvSpPr/>
          <p:nvPr/>
        </p:nvSpPr>
        <p:spPr>
          <a:xfrm>
            <a:off x="7351776" y="3529584"/>
            <a:ext cx="1325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E93D8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CE93D8"/>
                </a:solidFill>
                <a:latin typeface="Calibri"/>
                <a:ea typeface="Calibri"/>
                <a:cs typeface="Calibri"/>
                <a:sym typeface="Calibri"/>
              </a:rPr>
              <a:t>storage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1"/>
          <p:cNvSpPr/>
          <p:nvPr/>
        </p:nvSpPr>
        <p:spPr>
          <a:xfrm>
            <a:off x="8741664" y="3529584"/>
            <a:ext cx="1325880" cy="201168"/>
          </a:xfrm>
          <a:prstGeom prst="roundRect">
            <a:avLst>
              <a:gd fmla="val 18182" name="adj"/>
            </a:avLst>
          </a:prstGeom>
          <a:solidFill>
            <a:srgbClr val="1A0A2E"/>
          </a:solidFill>
          <a:ln cap="flat" cmpd="sng" w="12700">
            <a:solidFill>
              <a:srgbClr val="7B42BC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1"/>
          <p:cNvSpPr/>
          <p:nvPr/>
        </p:nvSpPr>
        <p:spPr>
          <a:xfrm>
            <a:off x="8741664" y="3529584"/>
            <a:ext cx="1325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E93D8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CE93D8"/>
                </a:solidFill>
                <a:latin typeface="Calibri"/>
                <a:ea typeface="Calibri"/>
                <a:cs typeface="Calibri"/>
                <a:sym typeface="Calibri"/>
              </a:rPr>
              <a:t>vnet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1"/>
          <p:cNvSpPr/>
          <p:nvPr/>
        </p:nvSpPr>
        <p:spPr>
          <a:xfrm>
            <a:off x="4434840" y="3822192"/>
            <a:ext cx="4434840" cy="1261872"/>
          </a:xfrm>
          <a:prstGeom prst="roundRect">
            <a:avLst>
              <a:gd fmla="val 5797" name="adj"/>
            </a:avLst>
          </a:prstGeom>
          <a:solidFill>
            <a:srgbClr val="152236"/>
          </a:solidFill>
          <a:ln cap="flat" cmpd="sng" w="12700">
            <a:solidFill>
              <a:srgbClr val="4FC3F7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1"/>
          <p:cNvSpPr/>
          <p:nvPr/>
        </p:nvSpPr>
        <p:spPr>
          <a:xfrm>
            <a:off x="4507992" y="3895344"/>
            <a:ext cx="1463040" cy="274320"/>
          </a:xfrm>
          <a:prstGeom prst="roundRect">
            <a:avLst>
              <a:gd fmla="val 16667" name="adj"/>
            </a:avLst>
          </a:prstGeom>
          <a:solidFill>
            <a:srgbClr val="01579B"/>
          </a:solidFill>
          <a:ln cap="flat" cmpd="sng" w="12700">
            <a:solidFill>
              <a:srgbClr val="0157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1"/>
          <p:cNvSpPr/>
          <p:nvPr/>
        </p:nvSpPr>
        <p:spPr>
          <a:xfrm>
            <a:off x="4507992" y="3895344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Root Files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1"/>
          <p:cNvSpPr/>
          <p:nvPr/>
        </p:nvSpPr>
        <p:spPr>
          <a:xfrm>
            <a:off x="4572000" y="4242816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900"/>
              <a:buFont typeface="Courier New"/>
              <a:buNone/>
            </a:pPr>
            <a:r>
              <a:rPr b="1" i="0" lang="en" sz="900" u="none" cap="none" strike="noStrike">
                <a:solidFill>
                  <a:srgbClr val="4FC3F7"/>
                </a:solidFill>
                <a:latin typeface="Courier New"/>
                <a:ea typeface="Courier New"/>
                <a:cs typeface="Courier New"/>
                <a:sym typeface="Courier New"/>
              </a:rPr>
              <a:t>main.tf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1"/>
          <p:cNvSpPr/>
          <p:nvPr/>
        </p:nvSpPr>
        <p:spPr>
          <a:xfrm>
            <a:off x="6309360" y="4242816"/>
            <a:ext cx="2423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— Provider config, backend state, workspace setup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1"/>
          <p:cNvSpPr/>
          <p:nvPr/>
        </p:nvSpPr>
        <p:spPr>
          <a:xfrm>
            <a:off x="4572000" y="4411980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900"/>
              <a:buFont typeface="Courier New"/>
              <a:buNone/>
            </a:pPr>
            <a:r>
              <a:rPr b="1" i="0" lang="en" sz="900" u="none" cap="none" strike="noStrike">
                <a:solidFill>
                  <a:srgbClr val="4FC3F7"/>
                </a:solidFill>
                <a:latin typeface="Courier New"/>
                <a:ea typeface="Courier New"/>
                <a:cs typeface="Courier New"/>
                <a:sym typeface="Courier New"/>
              </a:rPr>
              <a:t>modules.tf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1"/>
          <p:cNvSpPr/>
          <p:nvPr/>
        </p:nvSpPr>
        <p:spPr>
          <a:xfrm>
            <a:off x="6309360" y="4411980"/>
            <a:ext cx="2423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— Orchestrates all 13 modules with input wiring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1"/>
          <p:cNvSpPr/>
          <p:nvPr/>
        </p:nvSpPr>
        <p:spPr>
          <a:xfrm>
            <a:off x="4572000" y="4581144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900"/>
              <a:buFont typeface="Courier New"/>
              <a:buNone/>
            </a:pPr>
            <a:r>
              <a:rPr b="1" i="0" lang="en" sz="900" u="none" cap="none" strike="noStrike">
                <a:solidFill>
                  <a:srgbClr val="4FC3F7"/>
                </a:solidFill>
                <a:latin typeface="Courier New"/>
                <a:ea typeface="Courier New"/>
                <a:cs typeface="Courier New"/>
                <a:sym typeface="Courier New"/>
              </a:rPr>
              <a:t>outputs.tf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1"/>
          <p:cNvSpPr/>
          <p:nvPr/>
        </p:nvSpPr>
        <p:spPr>
          <a:xfrm>
            <a:off x="6309360" y="4581144"/>
            <a:ext cx="2423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— Exposes key resource values (URLs, IDs, IPs)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1"/>
          <p:cNvSpPr/>
          <p:nvPr/>
        </p:nvSpPr>
        <p:spPr>
          <a:xfrm>
            <a:off x="4572000" y="4750308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900"/>
              <a:buFont typeface="Courier New"/>
              <a:buNone/>
            </a:pPr>
            <a:r>
              <a:rPr b="1" i="0" lang="en" sz="900" u="none" cap="none" strike="noStrike">
                <a:solidFill>
                  <a:srgbClr val="4FC3F7"/>
                </a:solidFill>
                <a:latin typeface="Courier New"/>
                <a:ea typeface="Courier New"/>
                <a:cs typeface="Courier New"/>
                <a:sym typeface="Courier New"/>
              </a:rPr>
              <a:t>variables.tf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1"/>
          <p:cNvSpPr/>
          <p:nvPr/>
        </p:nvSpPr>
        <p:spPr>
          <a:xfrm>
            <a:off x="6309360" y="4750308"/>
            <a:ext cx="2423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— Declares all input variable types and defaults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1"/>
          <p:cNvSpPr/>
          <p:nvPr/>
        </p:nvSpPr>
        <p:spPr>
          <a:xfrm>
            <a:off x="4572000" y="4919472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900"/>
              <a:buFont typeface="Courier New"/>
              <a:buNone/>
            </a:pPr>
            <a:r>
              <a:rPr b="1" i="0" lang="en" sz="900" u="none" cap="none" strike="noStrike">
                <a:solidFill>
                  <a:srgbClr val="4FC3F7"/>
                </a:solidFill>
                <a:latin typeface="Courier New"/>
                <a:ea typeface="Courier New"/>
                <a:cs typeface="Courier New"/>
                <a:sym typeface="Courier New"/>
              </a:rPr>
              <a:t>terraform.tfvars.example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1"/>
          <p:cNvSpPr/>
          <p:nvPr/>
        </p:nvSpPr>
        <p:spPr>
          <a:xfrm>
            <a:off x="6309360" y="4919472"/>
            <a:ext cx="2423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— Template for local variable overrides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1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2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D42"/>
          </a:solidFill>
          <a:ln cap="flat" cmpd="sng" w="12700">
            <a:solidFill>
              <a:srgbClr val="1A2D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2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Multi-Environment Deployment — Terraform Workspaces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2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2"/>
          <p:cNvSpPr/>
          <p:nvPr/>
        </p:nvSpPr>
        <p:spPr>
          <a:xfrm>
            <a:off x="320040" y="777240"/>
            <a:ext cx="4160520" cy="3017520"/>
          </a:xfrm>
          <a:prstGeom prst="roundRect">
            <a:avLst>
              <a:gd fmla="val 3030" name="adj"/>
            </a:avLst>
          </a:prstGeom>
          <a:solidFill>
            <a:srgbClr val="152236"/>
          </a:solidFill>
          <a:ln cap="flat" cmpd="sng" w="25400">
            <a:solidFill>
              <a:srgbClr val="1B5E2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2"/>
          <p:cNvSpPr/>
          <p:nvPr/>
        </p:nvSpPr>
        <p:spPr>
          <a:xfrm>
            <a:off x="502920" y="886968"/>
            <a:ext cx="1005840" cy="347472"/>
          </a:xfrm>
          <a:prstGeom prst="roundRect">
            <a:avLst>
              <a:gd fmla="val 15789" name="adj"/>
            </a:avLst>
          </a:prstGeom>
          <a:solidFill>
            <a:srgbClr val="1B5E20"/>
          </a:solidFill>
          <a:ln cap="flat" cmpd="sng" w="12700">
            <a:solidFill>
              <a:srgbClr val="1B5E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2"/>
          <p:cNvSpPr/>
          <p:nvPr/>
        </p:nvSpPr>
        <p:spPr>
          <a:xfrm>
            <a:off x="502920" y="886968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2"/>
          <p:cNvSpPr/>
          <p:nvPr/>
        </p:nvSpPr>
        <p:spPr>
          <a:xfrm>
            <a:off x="1645920" y="93268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environments/dev.tfvars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2"/>
          <p:cNvSpPr/>
          <p:nvPr/>
        </p:nvSpPr>
        <p:spPr>
          <a:xfrm>
            <a:off x="502920" y="1417320"/>
            <a:ext cx="3794760" cy="420624"/>
          </a:xfrm>
          <a:prstGeom prst="rect">
            <a:avLst/>
          </a:prstGeom>
          <a:solidFill>
            <a:srgbClr val="0F1F30"/>
          </a:solidFill>
          <a:ln cap="flat" cmpd="sng" w="12700">
            <a:solidFill>
              <a:srgbClr val="0A19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2"/>
          <p:cNvSpPr/>
          <p:nvPr/>
        </p:nvSpPr>
        <p:spPr>
          <a:xfrm>
            <a:off x="594360" y="1472184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App Service SKU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2"/>
          <p:cNvSpPr/>
          <p:nvPr/>
        </p:nvSpPr>
        <p:spPr>
          <a:xfrm>
            <a:off x="2468880" y="1472184"/>
            <a:ext cx="1691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B1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2"/>
          <p:cNvSpPr/>
          <p:nvPr/>
        </p:nvSpPr>
        <p:spPr>
          <a:xfrm>
            <a:off x="502920" y="1892808"/>
            <a:ext cx="3794760" cy="420624"/>
          </a:xfrm>
          <a:prstGeom prst="rect">
            <a:avLst/>
          </a:prstGeom>
          <a:solidFill>
            <a:srgbClr val="0A1929"/>
          </a:solidFill>
          <a:ln cap="flat" cmpd="sng" w="12700">
            <a:solidFill>
              <a:srgbClr val="0A19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2"/>
          <p:cNvSpPr/>
          <p:nvPr/>
        </p:nvSpPr>
        <p:spPr>
          <a:xfrm>
            <a:off x="594360" y="1947672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PostgreSQL SKU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2"/>
          <p:cNvSpPr/>
          <p:nvPr/>
        </p:nvSpPr>
        <p:spPr>
          <a:xfrm>
            <a:off x="2468880" y="1947672"/>
            <a:ext cx="1691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B_Standard_B1ms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2"/>
          <p:cNvSpPr/>
          <p:nvPr/>
        </p:nvSpPr>
        <p:spPr>
          <a:xfrm>
            <a:off x="502920" y="2368296"/>
            <a:ext cx="3794760" cy="420624"/>
          </a:xfrm>
          <a:prstGeom prst="rect">
            <a:avLst/>
          </a:prstGeom>
          <a:solidFill>
            <a:srgbClr val="0F1F30"/>
          </a:solidFill>
          <a:ln cap="flat" cmpd="sng" w="12700">
            <a:solidFill>
              <a:srgbClr val="0A19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2"/>
          <p:cNvSpPr/>
          <p:nvPr/>
        </p:nvSpPr>
        <p:spPr>
          <a:xfrm>
            <a:off x="594360" y="2423160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App Gateway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2"/>
          <p:cNvSpPr/>
          <p:nvPr/>
        </p:nvSpPr>
        <p:spPr>
          <a:xfrm>
            <a:off x="2468880" y="2423160"/>
            <a:ext cx="1691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1 instance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2"/>
          <p:cNvSpPr/>
          <p:nvPr/>
        </p:nvSpPr>
        <p:spPr>
          <a:xfrm>
            <a:off x="502920" y="2843784"/>
            <a:ext cx="3794760" cy="420624"/>
          </a:xfrm>
          <a:prstGeom prst="rect">
            <a:avLst/>
          </a:prstGeom>
          <a:solidFill>
            <a:srgbClr val="0A1929"/>
          </a:solidFill>
          <a:ln cap="flat" cmpd="sng" w="12700">
            <a:solidFill>
              <a:srgbClr val="0A19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2"/>
          <p:cNvSpPr/>
          <p:nvPr/>
        </p:nvSpPr>
        <p:spPr>
          <a:xfrm>
            <a:off x="594360" y="2898648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Resource prefix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2"/>
          <p:cNvSpPr/>
          <p:nvPr/>
        </p:nvSpPr>
        <p:spPr>
          <a:xfrm>
            <a:off x="2468880" y="2898648"/>
            <a:ext cx="1691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nutriai-dev-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2"/>
          <p:cNvSpPr/>
          <p:nvPr/>
        </p:nvSpPr>
        <p:spPr>
          <a:xfrm>
            <a:off x="4754880" y="777240"/>
            <a:ext cx="4160520" cy="3017520"/>
          </a:xfrm>
          <a:prstGeom prst="roundRect">
            <a:avLst>
              <a:gd fmla="val 3030" name="adj"/>
            </a:avLst>
          </a:prstGeom>
          <a:solidFill>
            <a:srgbClr val="152236"/>
          </a:solidFill>
          <a:ln cap="flat" cmpd="sng" w="25400">
            <a:solidFill>
              <a:srgbClr val="B71C1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2"/>
          <p:cNvSpPr/>
          <p:nvPr/>
        </p:nvSpPr>
        <p:spPr>
          <a:xfrm>
            <a:off x="4937760" y="886968"/>
            <a:ext cx="1005840" cy="347472"/>
          </a:xfrm>
          <a:prstGeom prst="roundRect">
            <a:avLst>
              <a:gd fmla="val 15789" name="adj"/>
            </a:avLst>
          </a:prstGeom>
          <a:solidFill>
            <a:srgbClr val="B71C1C"/>
          </a:solidFill>
          <a:ln cap="flat" cmpd="sng" w="12700">
            <a:solidFill>
              <a:srgbClr val="B7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2"/>
          <p:cNvSpPr/>
          <p:nvPr/>
        </p:nvSpPr>
        <p:spPr>
          <a:xfrm>
            <a:off x="4937760" y="886968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2"/>
          <p:cNvSpPr/>
          <p:nvPr/>
        </p:nvSpPr>
        <p:spPr>
          <a:xfrm>
            <a:off x="6080760" y="93268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environments/prod.tfvars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2"/>
          <p:cNvSpPr/>
          <p:nvPr/>
        </p:nvSpPr>
        <p:spPr>
          <a:xfrm>
            <a:off x="4937760" y="1417320"/>
            <a:ext cx="3794760" cy="420624"/>
          </a:xfrm>
          <a:prstGeom prst="rect">
            <a:avLst/>
          </a:prstGeom>
          <a:solidFill>
            <a:srgbClr val="0F1F30"/>
          </a:solidFill>
          <a:ln cap="flat" cmpd="sng" w="12700">
            <a:solidFill>
              <a:srgbClr val="0A19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2"/>
          <p:cNvSpPr/>
          <p:nvPr/>
        </p:nvSpPr>
        <p:spPr>
          <a:xfrm>
            <a:off x="5029200" y="1472184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App Service SKU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2"/>
          <p:cNvSpPr/>
          <p:nvPr/>
        </p:nvSpPr>
        <p:spPr>
          <a:xfrm>
            <a:off x="6903720" y="1472184"/>
            <a:ext cx="1691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5350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EF5350"/>
                </a:solidFill>
                <a:latin typeface="Calibri"/>
                <a:ea typeface="Calibri"/>
                <a:cs typeface="Calibri"/>
                <a:sym typeface="Calibri"/>
              </a:rPr>
              <a:t>P1v2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2"/>
          <p:cNvSpPr/>
          <p:nvPr/>
        </p:nvSpPr>
        <p:spPr>
          <a:xfrm>
            <a:off x="4937760" y="1892808"/>
            <a:ext cx="3794760" cy="420624"/>
          </a:xfrm>
          <a:prstGeom prst="rect">
            <a:avLst/>
          </a:prstGeom>
          <a:solidFill>
            <a:srgbClr val="0A1929"/>
          </a:solidFill>
          <a:ln cap="flat" cmpd="sng" w="12700">
            <a:solidFill>
              <a:srgbClr val="0A19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2"/>
          <p:cNvSpPr/>
          <p:nvPr/>
        </p:nvSpPr>
        <p:spPr>
          <a:xfrm>
            <a:off x="5029200" y="1947672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PostgreSQL SKU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2"/>
          <p:cNvSpPr/>
          <p:nvPr/>
        </p:nvSpPr>
        <p:spPr>
          <a:xfrm>
            <a:off x="6903720" y="1947672"/>
            <a:ext cx="1691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5350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EF5350"/>
                </a:solidFill>
                <a:latin typeface="Calibri"/>
                <a:ea typeface="Calibri"/>
                <a:cs typeface="Calibri"/>
                <a:sym typeface="Calibri"/>
              </a:rPr>
              <a:t>GP_Standard_D2s_v3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2"/>
          <p:cNvSpPr/>
          <p:nvPr/>
        </p:nvSpPr>
        <p:spPr>
          <a:xfrm>
            <a:off x="4937760" y="2368296"/>
            <a:ext cx="3794760" cy="420624"/>
          </a:xfrm>
          <a:prstGeom prst="rect">
            <a:avLst/>
          </a:prstGeom>
          <a:solidFill>
            <a:srgbClr val="0F1F30"/>
          </a:solidFill>
          <a:ln cap="flat" cmpd="sng" w="12700">
            <a:solidFill>
              <a:srgbClr val="0A19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2"/>
          <p:cNvSpPr/>
          <p:nvPr/>
        </p:nvSpPr>
        <p:spPr>
          <a:xfrm>
            <a:off x="5029200" y="2423160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App Gateway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2"/>
          <p:cNvSpPr/>
          <p:nvPr/>
        </p:nvSpPr>
        <p:spPr>
          <a:xfrm>
            <a:off x="6903720" y="2423160"/>
            <a:ext cx="1691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5350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EF5350"/>
                </a:solidFill>
                <a:latin typeface="Calibri"/>
                <a:ea typeface="Calibri"/>
                <a:cs typeface="Calibri"/>
                <a:sym typeface="Calibri"/>
              </a:rPr>
              <a:t>2 instances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2"/>
          <p:cNvSpPr/>
          <p:nvPr/>
        </p:nvSpPr>
        <p:spPr>
          <a:xfrm>
            <a:off x="4937760" y="2843784"/>
            <a:ext cx="3794760" cy="420624"/>
          </a:xfrm>
          <a:prstGeom prst="rect">
            <a:avLst/>
          </a:prstGeom>
          <a:solidFill>
            <a:srgbClr val="0A1929"/>
          </a:solidFill>
          <a:ln cap="flat" cmpd="sng" w="12700">
            <a:solidFill>
              <a:srgbClr val="0A19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2"/>
          <p:cNvSpPr/>
          <p:nvPr/>
        </p:nvSpPr>
        <p:spPr>
          <a:xfrm>
            <a:off x="5029200" y="2898648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Resource prefix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2"/>
          <p:cNvSpPr/>
          <p:nvPr/>
        </p:nvSpPr>
        <p:spPr>
          <a:xfrm>
            <a:off x="6903720" y="2898648"/>
            <a:ext cx="1691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5350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EF5350"/>
                </a:solidFill>
                <a:latin typeface="Calibri"/>
                <a:ea typeface="Calibri"/>
                <a:cs typeface="Calibri"/>
                <a:sym typeface="Calibri"/>
              </a:rPr>
              <a:t>nutriai-prod-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2"/>
          <p:cNvSpPr/>
          <p:nvPr/>
        </p:nvSpPr>
        <p:spPr>
          <a:xfrm>
            <a:off x="320040" y="3913632"/>
            <a:ext cx="8503920" cy="822960"/>
          </a:xfrm>
          <a:prstGeom prst="roundRect">
            <a:avLst>
              <a:gd fmla="val 8889" name="adj"/>
            </a:avLst>
          </a:prstGeom>
          <a:solidFill>
            <a:srgbClr val="050D1A"/>
          </a:solidFill>
          <a:ln cap="flat" cmpd="sng" w="12700">
            <a:solidFill>
              <a:srgbClr val="00BFA5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2"/>
          <p:cNvSpPr/>
          <p:nvPr/>
        </p:nvSpPr>
        <p:spPr>
          <a:xfrm>
            <a:off x="502920" y="3977640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FA5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0BFA5"/>
                </a:solidFill>
                <a:latin typeface="Calibri"/>
                <a:ea typeface="Calibri"/>
                <a:cs typeface="Calibri"/>
                <a:sym typeface="Calibri"/>
              </a:rPr>
              <a:t>CLI Commands: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2"/>
          <p:cNvSpPr/>
          <p:nvPr/>
        </p:nvSpPr>
        <p:spPr>
          <a:xfrm>
            <a:off x="502920" y="4251960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74D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FFB74D"/>
                </a:solidFill>
                <a:latin typeface="Courier New"/>
                <a:ea typeface="Courier New"/>
                <a:cs typeface="Courier New"/>
                <a:sym typeface="Courier New"/>
              </a:rPr>
              <a:t>terraform workspace select dev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2"/>
          <p:cNvSpPr/>
          <p:nvPr/>
        </p:nvSpPr>
        <p:spPr>
          <a:xfrm>
            <a:off x="4617720" y="4251960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74D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FFB74D"/>
                </a:solidFill>
                <a:latin typeface="Courier New"/>
                <a:ea typeface="Courier New"/>
                <a:cs typeface="Courier New"/>
                <a:sym typeface="Courier New"/>
              </a:rPr>
              <a:t>terraform plan -var-file=environments/dev.tfvars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2"/>
          <p:cNvSpPr/>
          <p:nvPr/>
        </p:nvSpPr>
        <p:spPr>
          <a:xfrm>
            <a:off x="502920" y="4498848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74D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FFB74D"/>
                </a:solidFill>
                <a:latin typeface="Courier New"/>
                <a:ea typeface="Courier New"/>
                <a:cs typeface="Courier New"/>
                <a:sym typeface="Courier New"/>
              </a:rPr>
              <a:t>terraform workspace select prod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2"/>
          <p:cNvSpPr/>
          <p:nvPr/>
        </p:nvSpPr>
        <p:spPr>
          <a:xfrm>
            <a:off x="4617720" y="4498848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74D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FFB74D"/>
                </a:solidFill>
                <a:latin typeface="Courier New"/>
                <a:ea typeface="Courier New"/>
                <a:cs typeface="Courier New"/>
                <a:sym typeface="Courier New"/>
              </a:rPr>
              <a:t>terraform apply -var-file=environments/prod.tfvars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2"/>
          <p:cNvSpPr/>
          <p:nvPr/>
        </p:nvSpPr>
        <p:spPr>
          <a:xfrm>
            <a:off x="320040" y="4800600"/>
            <a:ext cx="8503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State isolation: each workspace has its own state file in Azure Blob Storage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2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