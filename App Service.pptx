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b3e63d45c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b3e63d45c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b3e63d45c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b3e63d45c_2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eb3e63d45c_2_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b3e63d45c_2_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b3e63d45c_2_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b3e63d45c_2_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b3e63d45c_2_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3e63d45c_2_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b3e63d45c_2_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b3e63d45c_2_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b3e63d45c_2_1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b3e63d45c_2_1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b3e63d45c_2_1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b3e63d45c_2_1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eb3e63d45c_2_1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b3e63d45c_2_1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b3e63d45c_2_2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eb3e63d45c_2_2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b3e63d45c_2_2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b3e63d45c_2_2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eb3e63d45c_2_2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b3e63d45c_2_2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b3e63d45c_2_3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eb3e63d45c_2_3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b3e63d45c_2_3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b3e63d45c_2_3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eb3e63d45c_2_3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b3e63d45c_2_3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5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439C">
              <a:alpha val="40000"/>
            </a:srgbClr>
          </a:solidFill>
          <a:ln cap="flat" cmpd="sng" w="12700">
            <a:solidFill>
              <a:srgbClr val="00439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78D4">
              <a:alpha val="50196"/>
            </a:srgbClr>
          </a:solidFill>
          <a:ln cap="flat" cmpd="sng" w="12700">
            <a:solidFill>
              <a:srgbClr val="0078D4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6675120" y="365760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7498080" y="1645920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15"/>
          <p:cNvPicPr preferRelativeResize="0"/>
          <p:nvPr/>
        </p:nvPicPr>
        <p:blipFill rotWithShape="1">
          <a:blip r:embed="rId5">
            <a:alphaModFix amt="65000"/>
          </a:blip>
          <a:srcRect b="0" l="0" r="0" t="0"/>
          <a:stretch/>
        </p:blipFill>
        <p:spPr>
          <a:xfrm>
            <a:off x="6400800" y="2560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457200" y="548640"/>
            <a:ext cx="1828800" cy="347472"/>
          </a:xfrm>
          <a:prstGeom prst="roundRect">
            <a:avLst>
              <a:gd fmla="val 39474" name="adj"/>
            </a:avLst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457200" y="548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MICROSOFT AZURE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57200" y="114300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App Service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57200" y="228600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A fully managed platform for building, deploying,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and scaling web applications in the cloud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457200" y="3429000"/>
            <a:ext cx="1325880" cy="329184"/>
          </a:xfrm>
          <a:prstGeom prst="roundRect">
            <a:avLst>
              <a:gd fmla="val 33333" name="adj"/>
            </a:avLst>
          </a:prstGeom>
          <a:solidFill>
            <a:srgbClr val="FFFFFF">
              <a:alpha val="14901"/>
            </a:srgbClr>
          </a:solidFill>
          <a:ln cap="flat" cmpd="sng" w="12700">
            <a:solidFill>
              <a:srgbClr val="5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57200" y="3429000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920240" y="3429000"/>
            <a:ext cx="1325880" cy="329184"/>
          </a:xfrm>
          <a:prstGeom prst="roundRect">
            <a:avLst>
              <a:gd fmla="val 33333" name="adj"/>
            </a:avLst>
          </a:prstGeom>
          <a:solidFill>
            <a:srgbClr val="FFFFFF">
              <a:alpha val="14901"/>
            </a:srgbClr>
          </a:solidFill>
          <a:ln cap="flat" cmpd="sng" w="12700">
            <a:solidFill>
              <a:srgbClr val="5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920240" y="3429000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Auto-scaling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383280" y="3429000"/>
            <a:ext cx="1325880" cy="329184"/>
          </a:xfrm>
          <a:prstGeom prst="roundRect">
            <a:avLst>
              <a:gd fmla="val 33333" name="adj"/>
            </a:avLst>
          </a:prstGeom>
          <a:solidFill>
            <a:srgbClr val="FFFFFF">
              <a:alpha val="14901"/>
            </a:srgbClr>
          </a:solidFill>
          <a:ln cap="flat" cmpd="sng" w="12700">
            <a:solidFill>
              <a:srgbClr val="5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383280" y="3429000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Comprehensive 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9F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0" y="137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365760" y="960120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365760" y="960120"/>
            <a:ext cx="594360" cy="11430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65760" y="960120"/>
            <a:ext cx="594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051560" y="10515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What is Azure App Service?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051560" y="14630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Definition, overview &amp; platform capabilities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65760" y="2258568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365760" y="2258568"/>
            <a:ext cx="594360" cy="11430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65760" y="2258568"/>
            <a:ext cx="594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051560" y="235000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Why Do We Need It?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051560" y="276148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Business value, pain points solved &amp; use cases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65760" y="3557016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65760" y="3557016"/>
            <a:ext cx="594360" cy="11430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65760" y="3557016"/>
            <a:ext cx="594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051560" y="364845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051560" y="405993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Architecture, deployment &amp; runtime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846320" y="960120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4846320" y="960120"/>
            <a:ext cx="594360" cy="11430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846320" y="960120"/>
            <a:ext cx="594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5532120" y="10515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Internal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532120" y="14630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Deep dive: front ends, workers, controllers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846320" y="2258568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4846320" y="2258568"/>
            <a:ext cx="594360" cy="11430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4846320" y="2258568"/>
            <a:ext cx="594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532120" y="235000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Key Features &amp; Capabilities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5532120" y="276148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Scaling, security, monitoring &amp; DevOps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846320" y="3557016"/>
            <a:ext cx="420624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846320" y="3557016"/>
            <a:ext cx="594360" cy="11430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4846320" y="3557016"/>
            <a:ext cx="594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532120" y="364845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End-to-End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5532120" y="405993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Request journey from user to application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Azure App Service?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1143000" y="1051560"/>
            <a:ext cx="7452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Azure App Service is a fully managed HTTP-based Platform-as-a-Service (PaaS) for hosting web applications, REST APIs, and mobile back ends. It enables developers to focus on code while Azure handles infrastructure, patching, scaling, and security.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65760" y="1965960"/>
            <a:ext cx="1965960" cy="2743200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365760" y="1965960"/>
            <a:ext cx="1965960" cy="6858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20848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438912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Multi-language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57200" y="333756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.NET, Node.js, Python, Java, PHP, Ruby — run any runtime natively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468880" y="1965960"/>
            <a:ext cx="1965960" cy="2743200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2468880" y="1965960"/>
            <a:ext cx="1965960" cy="685800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20848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2542032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Fully Managed PaaS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560320" y="333756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 OS patching, no VM management — Azure handles all infrastructure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572000" y="1965960"/>
            <a:ext cx="1965960" cy="2743200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4572000" y="1965960"/>
            <a:ext cx="1965960" cy="68580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0" y="20848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4645152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Auto Scale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663440" y="333756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Scale out/up automatically based on CPU, memory or custom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675120" y="1965960"/>
            <a:ext cx="1965960" cy="2743200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675120" y="1965960"/>
            <a:ext cx="1965960" cy="685800"/>
          </a:xfrm>
          <a:prstGeom prst="rect">
            <a:avLst/>
          </a:prstGeom>
          <a:solidFill>
            <a:srgbClr val="7719AA"/>
          </a:solidFill>
          <a:ln cap="flat" cmpd="sng" w="12700">
            <a:solidFill>
              <a:srgbClr val="771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06640" y="20848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6748272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Enterprise Security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766560" y="333756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Built-in auth, SSL/TLS, VNet integration &amp; compliance certifications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 We Need Azure App Service?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274320" y="1005840"/>
            <a:ext cx="3840480" cy="3931920"/>
          </a:xfrm>
          <a:prstGeom prst="rect">
            <a:avLst/>
          </a:prstGeom>
          <a:solidFill>
            <a:srgbClr val="FFF4F4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274320" y="1005840"/>
            <a:ext cx="3840480" cy="502920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365760" y="10058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Traditional Challenges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11480" y="162763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• Complex server provisioning &amp; configuration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11480" y="213055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• Manual OS patching &amp; security updates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11480" y="263347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• Difficult horizontal scaling under 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11480" y="313639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• High upfront infrastructure investment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11480" y="363931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• DevOps pipeline setup from scratch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11480" y="414223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• No built-in monitoring or diagnostics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572000" y="1005840"/>
            <a:ext cx="4297680" cy="393192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CCFF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572000" y="1005840"/>
            <a:ext cx="4297680" cy="50292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4663440" y="10058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Azure App Service Solves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16642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4956048" y="16276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1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A5C1A"/>
                </a:solidFill>
                <a:latin typeface="Calibri"/>
                <a:ea typeface="Calibri"/>
                <a:cs typeface="Calibri"/>
                <a:sym typeface="Calibri"/>
              </a:rPr>
              <a:t>Zero server management — fully managed PaaS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2167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4956048" y="213055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1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A5C1A"/>
                </a:solidFill>
                <a:latin typeface="Calibri"/>
                <a:ea typeface="Calibri"/>
                <a:cs typeface="Calibri"/>
                <a:sym typeface="Calibri"/>
              </a:rPr>
              <a:t>Automatic patching &amp; security by Microsoft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2670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4956048" y="263347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1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A5C1A"/>
                </a:solidFill>
                <a:latin typeface="Calibri"/>
                <a:ea typeface="Calibri"/>
                <a:cs typeface="Calibri"/>
                <a:sym typeface="Calibri"/>
              </a:rPr>
              <a:t>Built-in auto-scale rules (manual + automatic)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31729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4956048" y="31363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1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A5C1A"/>
                </a:solidFill>
                <a:latin typeface="Calibri"/>
                <a:ea typeface="Calibri"/>
                <a:cs typeface="Calibri"/>
                <a:sym typeface="Calibri"/>
              </a:rPr>
              <a:t>Pay-as-you-go pricing, no upfront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36758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4956048" y="363931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1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A5C1A"/>
                </a:solidFill>
                <a:latin typeface="Calibri"/>
                <a:ea typeface="Calibri"/>
                <a:cs typeface="Calibri"/>
                <a:sym typeface="Calibri"/>
              </a:rPr>
              <a:t>GitHub, Azure DevOps CI/CD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41788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4956048" y="414223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1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A5C1A"/>
                </a:solidFill>
                <a:latin typeface="Calibri"/>
                <a:ea typeface="Calibri"/>
                <a:cs typeface="Calibri"/>
                <a:sym typeface="Calibri"/>
              </a:rPr>
              <a:t>Application Insights built-in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1648" y="278892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9FE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Azure App Service 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82880" y="1005840"/>
            <a:ext cx="1965960" cy="1371600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228600" y="16642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28600" y="20299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Write &amp; commit 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148840" y="1645920"/>
            <a:ext cx="41148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2487168" y="1581912"/>
            <a:ext cx="0" cy="0"/>
          </a:xfrm>
          <a:prstGeom prst="rect">
            <a:avLst/>
          </a:prstGeom>
          <a:noFill/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2377440" y="1005840"/>
            <a:ext cx="1965960" cy="1371600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8960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2423160" y="16642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423160" y="20299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GitHub / Azure Repos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343400" y="1645920"/>
            <a:ext cx="41148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4681728" y="1581912"/>
            <a:ext cx="0" cy="0"/>
          </a:xfrm>
          <a:prstGeom prst="rect">
            <a:avLst/>
          </a:prstGeom>
          <a:noFill/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4572000" y="1005840"/>
            <a:ext cx="1965960" cy="13716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0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4617720" y="16642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App 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4617720" y="20299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Build, run &amp; manage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537960" y="1645920"/>
            <a:ext cx="41148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876288" y="1581912"/>
            <a:ext cx="0" cy="0"/>
          </a:xfrm>
          <a:prstGeom prst="rect">
            <a:avLst/>
          </a:prstGeom>
          <a:noFill/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6766560" y="1005840"/>
            <a:ext cx="1965960" cy="1371600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0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6812280" y="166420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 Users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812280" y="20299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Web / Mobile / API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74320" y="2651760"/>
            <a:ext cx="28346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274320" y="2651760"/>
            <a:ext cx="2834640" cy="457200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365760" y="26517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Developer Pushes 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" y="32461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/>
          <p:nvPr/>
        </p:nvSpPr>
        <p:spPr>
          <a:xfrm>
            <a:off x="676656" y="321868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Write app in any language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" y="3749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/>
          <p:nvPr/>
        </p:nvSpPr>
        <p:spPr>
          <a:xfrm>
            <a:off x="676656" y="372160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Push to Git repo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" y="42519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/>
          <p:nvPr/>
        </p:nvSpPr>
        <p:spPr>
          <a:xfrm>
            <a:off x="676656" y="42245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CI/CD pipeline triggers automatically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3246120" y="2651760"/>
            <a:ext cx="28346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3246120" y="2651760"/>
            <a:ext cx="2834640" cy="4572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3337560" y="26517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App Service Processes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560" y="32461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/>
          <p:nvPr/>
        </p:nvSpPr>
        <p:spPr>
          <a:xfrm>
            <a:off x="3648456" y="321868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Build agent compiles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560" y="3749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/>
          <p:nvPr/>
        </p:nvSpPr>
        <p:spPr>
          <a:xfrm>
            <a:off x="3648456" y="372160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Kudu deployment engine deploys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560" y="42519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/>
          <p:nvPr/>
        </p:nvSpPr>
        <p:spPr>
          <a:xfrm>
            <a:off x="3648456" y="42245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App runs in managed sandbox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6217920" y="2651760"/>
            <a:ext cx="28346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6217920" y="2651760"/>
            <a:ext cx="2834640" cy="457200"/>
          </a:xfrm>
          <a:prstGeom prst="rect">
            <a:avLst/>
          </a:prstGeom>
          <a:solidFill>
            <a:srgbClr val="7719AA"/>
          </a:solidFill>
          <a:ln cap="flat" cmpd="sng" w="12700">
            <a:solidFill>
              <a:srgbClr val="771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6309360" y="26517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Traffic &amp; Scale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0" y="32461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/>
          <p:nvPr/>
        </p:nvSpPr>
        <p:spPr>
          <a:xfrm>
            <a:off x="6620256" y="321868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Azure load balances traffic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0" y="3749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/>
          <p:nvPr/>
        </p:nvSpPr>
        <p:spPr>
          <a:xfrm>
            <a:off x="6620256" y="372160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Auto-scale triggers on demand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0" y="42519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/>
          <p:nvPr/>
        </p:nvSpPr>
        <p:spPr>
          <a:xfrm>
            <a:off x="6620256" y="42245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CDN &amp; SSL handled automatically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 Architecture – Deep Dive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365760" y="960120"/>
            <a:ext cx="5760720" cy="475488"/>
          </a:xfrm>
          <a:prstGeom prst="rect">
            <a:avLst/>
          </a:prstGeom>
          <a:solidFill>
            <a:srgbClr val="E5F0FB"/>
          </a:solidFill>
          <a:ln cap="flat" cmpd="sng" w="12700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02920" y="960120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Internet / 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063240" y="1435608"/>
            <a:ext cx="54864" cy="7315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365760" y="1508760"/>
            <a:ext cx="5760720" cy="47548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502920" y="1508760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Front Door  ·  Traffic Manager  ·  CDN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063240" y="1984248"/>
            <a:ext cx="54864" cy="7315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365760" y="2057400"/>
            <a:ext cx="5760720" cy="47548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502920" y="2057400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Service Front End (Load Balancer / SSL Termination)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3063240" y="2532888"/>
            <a:ext cx="54864" cy="7315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365760" y="2606040"/>
            <a:ext cx="5760720" cy="475488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502920" y="2606040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Service Workers  (Sandbox / App Domain / Runtime)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3063240" y="3081528"/>
            <a:ext cx="54864" cy="7315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365760" y="3154680"/>
            <a:ext cx="5760720" cy="475488"/>
          </a:xfrm>
          <a:prstGeom prst="rect">
            <a:avLst/>
          </a:prstGeom>
          <a:solidFill>
            <a:srgbClr val="002E6D"/>
          </a:solidFill>
          <a:ln cap="flat" cmpd="sng" w="12700">
            <a:solidFill>
              <a:srgbClr val="002E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02920" y="3154680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Service Controller  (Desired State / Orchestration)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3063240" y="3630168"/>
            <a:ext cx="54864" cy="7315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365760" y="3703320"/>
            <a:ext cx="5760720" cy="475488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502920" y="3703320"/>
            <a:ext cx="5577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Storage  ·  SQL / CosmosDB  ·  Key Vault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236208" y="1051560"/>
            <a:ext cx="2743200" cy="384048"/>
          </a:xfrm>
          <a:prstGeom prst="rect">
            <a:avLst/>
          </a:prstGeom>
          <a:solidFill>
            <a:srgbClr val="E5EFF9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6291072" y="10515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User browser, mobile app, or API client makes HTTPS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6126480" y="1234440"/>
            <a:ext cx="10972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6236208" y="1600200"/>
            <a:ext cx="2743200" cy="384048"/>
          </a:xfrm>
          <a:prstGeom prst="rect">
            <a:avLst/>
          </a:prstGeom>
          <a:solidFill>
            <a:srgbClr val="E5EFF9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6291072" y="16002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Global routing, DDoS protection, WAF, geo-load balancing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6126480" y="1783080"/>
            <a:ext cx="10972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6236208" y="2148840"/>
            <a:ext cx="2743200" cy="384048"/>
          </a:xfrm>
          <a:prstGeom prst="rect">
            <a:avLst/>
          </a:prstGeom>
          <a:solidFill>
            <a:srgbClr val="E5EFF9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6291072" y="214884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SSL offload, reverse proxy, sticky sessions, port 80/443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6126480" y="2331720"/>
            <a:ext cx="10972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6236208" y="2697480"/>
            <a:ext cx="2743200" cy="384048"/>
          </a:xfrm>
          <a:prstGeom prst="rect">
            <a:avLst/>
          </a:prstGeom>
          <a:solidFill>
            <a:srgbClr val="E5EFF9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291072" y="269748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Isolated sandbox per app, OS processes, language runtime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6126480" y="2880360"/>
            <a:ext cx="10972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6236208" y="3246120"/>
            <a:ext cx="2743200" cy="384048"/>
          </a:xfrm>
          <a:prstGeom prst="rect">
            <a:avLst/>
          </a:prstGeom>
          <a:solidFill>
            <a:srgbClr val="E5EFF9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6291072" y="32461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Health monitoring, desired state, slot management, autoscale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126480" y="3429000"/>
            <a:ext cx="10972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6236208" y="3794760"/>
            <a:ext cx="2743200" cy="384048"/>
          </a:xfrm>
          <a:prstGeom prst="rect">
            <a:avLst/>
          </a:prstGeom>
          <a:solidFill>
            <a:srgbClr val="E5EFF9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6291072" y="37947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Persistent storage, secrets, database connections via VNet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6126480" y="3977640"/>
            <a:ext cx="10972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9FE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Features &amp; Capabilities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274320" y="1005840"/>
            <a:ext cx="278892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274320" y="1005840"/>
            <a:ext cx="685800" cy="187452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/>
          <p:nvPr/>
        </p:nvSpPr>
        <p:spPr>
          <a:xfrm>
            <a:off x="1051560" y="111556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Auto 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1051560" y="160020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Scale horizontally (more instances) or vertically (bigger VMs) automatically based on metrics or schedules.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3218688" y="1005840"/>
            <a:ext cx="278892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3218688" y="1005840"/>
            <a:ext cx="685800" cy="1874520"/>
          </a:xfrm>
          <a:prstGeom prst="rect">
            <a:avLst/>
          </a:prstGeom>
          <a:solidFill>
            <a:srgbClr val="7719AA"/>
          </a:solidFill>
          <a:ln cap="flat" cmpd="sng" w="12700">
            <a:solidFill>
              <a:srgbClr val="771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8416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/>
          <p:nvPr/>
        </p:nvSpPr>
        <p:spPr>
          <a:xfrm>
            <a:off x="3995928" y="111556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Built-in Security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3995928" y="160020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Managed SSL certs, Azure AD authentication, IP restrictions, and VNet integration included.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6163056" y="1005840"/>
            <a:ext cx="278892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6163056" y="1005840"/>
            <a:ext cx="685800" cy="187452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784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/>
          <p:nvPr/>
        </p:nvSpPr>
        <p:spPr>
          <a:xfrm>
            <a:off x="6940296" y="111556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Deployment Slots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940296" y="160020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Blue/green deployments with staging slots. Swap slots with zero downtime and easy rollback.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274320" y="3017520"/>
            <a:ext cx="278892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274320" y="3017520"/>
            <a:ext cx="685800" cy="1874520"/>
          </a:xfrm>
          <a:prstGeom prst="rect">
            <a:avLst/>
          </a:prstGeom>
          <a:solidFill>
            <a:srgbClr val="0D6EFD"/>
          </a:solidFill>
          <a:ln cap="flat" cmpd="sng" w="12700">
            <a:solidFill>
              <a:srgbClr val="0D6E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048" y="3703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1"/>
          <p:cNvSpPr/>
          <p:nvPr/>
        </p:nvSpPr>
        <p:spPr>
          <a:xfrm>
            <a:off x="1051560" y="31272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Containers &amp; Docker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1051560" y="361188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Deploy containerized apps from Docker Hub, ACR, or custom registries. Linux &amp; Windows support.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3218688" y="3017520"/>
            <a:ext cx="278892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3218688" y="3017520"/>
            <a:ext cx="685800" cy="1874520"/>
          </a:xfrm>
          <a:prstGeom prst="rect">
            <a:avLst/>
          </a:prstGeom>
          <a:solidFill>
            <a:srgbClr val="FF6F00"/>
          </a:solidFill>
          <a:ln cap="flat" cmpd="sng" w="12700">
            <a:solidFill>
              <a:srgbClr val="FF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28416" y="3703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1"/>
          <p:cNvSpPr/>
          <p:nvPr/>
        </p:nvSpPr>
        <p:spPr>
          <a:xfrm>
            <a:off x="3995928" y="31272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VNet Integration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3995928" y="361188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Securely connect to on-prem or private Azure resources via Virtual Network and Private Endpoints.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6163056" y="3017520"/>
            <a:ext cx="278892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6163056" y="3017520"/>
            <a:ext cx="685800" cy="1874520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72784" y="3703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/>
          <p:nvPr/>
        </p:nvSpPr>
        <p:spPr>
          <a:xfrm>
            <a:off x="6940296" y="312724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App Insights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6940296" y="361188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Built-in APM: traces, live metrics, failure analysis, dependency tracking, and custom dashboards.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Request Flow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548640" y="1408176"/>
            <a:ext cx="18288" cy="13716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365760" y="1005840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365760" y="1005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914400" y="969264"/>
            <a:ext cx="7955280" cy="475488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1005840" y="99669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User Request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2542032" y="1060704"/>
            <a:ext cx="27432" cy="292608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2633472" y="996696"/>
            <a:ext cx="6080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Browser sends HTTPS to your custom domain (e.g. myapp.azurewebsites.net)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48640" y="1984248"/>
            <a:ext cx="18288" cy="13716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365760" y="1581912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365760" y="15819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914400" y="1545336"/>
            <a:ext cx="7955280" cy="475488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1005840" y="1572768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DNS Resolution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2542032" y="1636776"/>
            <a:ext cx="27432" cy="292608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2633472" y="1572768"/>
            <a:ext cx="6080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Azure DNS / Traffic Manager routes to nearest Azure region / Front Door POP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548640" y="2560320"/>
            <a:ext cx="18288" cy="13716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365760" y="2157984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365760" y="21579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914400" y="2121408"/>
            <a:ext cx="7955280" cy="475488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1005840" y="2148840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SSL Termination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2542032" y="2212848"/>
            <a:ext cx="27432" cy="292608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2633472" y="2148840"/>
            <a:ext cx="6080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 Service Front End terminates TLS, applies WAF rules, authenticates 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548640" y="3136392"/>
            <a:ext cx="18288" cy="13716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365760" y="2734056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365760" y="2734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914400" y="2697480"/>
            <a:ext cx="7955280" cy="475488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1005840" y="27249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Load Balancing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2542032" y="2788920"/>
            <a:ext cx="27432" cy="292608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2633472" y="2724912"/>
            <a:ext cx="6080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Front End distributes request to a healthy worker instance using round-robin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548640" y="3712464"/>
            <a:ext cx="18288" cy="13716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365760" y="3310128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365760" y="3310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914400" y="3273552"/>
            <a:ext cx="7955280" cy="475488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1005840" y="330098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Worker Processes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2542032" y="3364992"/>
            <a:ext cx="27432" cy="292608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2633472" y="3300984"/>
            <a:ext cx="6080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 runs inside an isolated sandbox (process / container), executes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548640" y="4288536"/>
            <a:ext cx="18288" cy="13716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365760" y="3886200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365760" y="3886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914400" y="3849624"/>
            <a:ext cx="7955280" cy="475488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1005840" y="387705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2542032" y="3941064"/>
            <a:ext cx="27432" cy="292608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2633472" y="3877056"/>
            <a:ext cx="6080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 queries SQL/NoSQL DB, reads secrets from Key Vault via Managed Identity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365760" y="4462272"/>
            <a:ext cx="384048" cy="384048"/>
          </a:xfrm>
          <a:prstGeom prst="ellipse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365760" y="44622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914400" y="4425696"/>
            <a:ext cx="7955280" cy="475488"/>
          </a:xfrm>
          <a:prstGeom prst="rect">
            <a:avLst/>
          </a:prstGeom>
          <a:solidFill>
            <a:srgbClr val="F3F9FE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2"/>
          <p:cNvSpPr/>
          <p:nvPr/>
        </p:nvSpPr>
        <p:spPr>
          <a:xfrm>
            <a:off x="1005840" y="4453128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Response Return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2542032" y="4517136"/>
            <a:ext cx="27432" cy="292608"/>
          </a:xfrm>
          <a:prstGeom prst="rect">
            <a:avLst/>
          </a:prstGeom>
          <a:solidFill>
            <a:srgbClr val="C7E0F4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2633472" y="4453128"/>
            <a:ext cx="6080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Response travels back through front end → CDN cache (if enabled) → 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9FE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Service Plans — Pricing Tiers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 App Service Plan defines compute resources: CPU, RAM, disk, and scaling options.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274320" y="1417320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274320" y="1417320"/>
            <a:ext cx="1645920" cy="621792"/>
          </a:xfrm>
          <a:prstGeom prst="rect">
            <a:avLst/>
          </a:prstGeom>
          <a:solidFill>
            <a:srgbClr val="6C757D"/>
          </a:solidFill>
          <a:ln cap="flat" cmpd="sng" w="12700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320040" y="14173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/ Shared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320040" y="17830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2057400" y="1417320"/>
            <a:ext cx="6675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 &amp; testing only. Shared compute, 60 min/day CPU, no SLA, no custom domain SSL.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274320" y="2130552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274320" y="2130552"/>
            <a:ext cx="1645920" cy="62179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320040" y="213055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320040" y="249631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B1–B3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2057400" y="2130552"/>
            <a:ext cx="6675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Dedicated VMs. Manual scale (up to 3 instances), custom domains, SSL, no auto-scale.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274320" y="2843784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274320" y="2843784"/>
            <a:ext cx="1645920" cy="621792"/>
          </a:xfrm>
          <a:prstGeom prst="rect">
            <a:avLst/>
          </a:prstGeom>
          <a:solidFill>
            <a:srgbClr val="00439C"/>
          </a:solidFill>
          <a:ln cap="flat" cmpd="sng" w="12700">
            <a:solidFill>
              <a:srgbClr val="0043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320040" y="284378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320040" y="320954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S1–S3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2057400" y="2843784"/>
            <a:ext cx="6675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Auto-scale, deployment slots (x5), daily backups, custom domains &amp; SSL, Traffic Manager.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274320" y="3557016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274320" y="3557016"/>
            <a:ext cx="1645920" cy="621792"/>
          </a:xfrm>
          <a:prstGeom prst="rect">
            <a:avLst/>
          </a:prstGeom>
          <a:solidFill>
            <a:srgbClr val="002050"/>
          </a:solidFill>
          <a:ln cap="flat" cmpd="sng" w="12700">
            <a:solidFill>
              <a:srgbClr val="002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320040" y="355701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Premium V3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320040" y="392277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P1v3–P3v3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2057400" y="3557016"/>
            <a:ext cx="6675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Faster VMs, VNet integration, zone redundancy, private endpoints, up to 30 slots.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274320" y="4270248"/>
            <a:ext cx="859536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E0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274320" y="4270248"/>
            <a:ext cx="1645920" cy="621792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320040" y="427024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Isolated V2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320040" y="463600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I1v2–I3v2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2057400" y="4270248"/>
            <a:ext cx="6675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Dedicated hardware in your own VNet (ASE). Max security, compliance, and performance.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5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439C">
              <a:alpha val="34901"/>
            </a:srgbClr>
          </a:solidFill>
          <a:ln cap="flat" cmpd="sng" w="12700">
            <a:solidFill>
              <a:srgbClr val="00439C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78D4">
              <a:alpha val="45098"/>
            </a:srgbClr>
          </a:solidFill>
          <a:ln cap="flat" cmpd="sng" w="12700">
            <a:solidFill>
              <a:srgbClr val="0078D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4" name="Google Shape;414;p24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>
            <a:off x="6949440" y="27432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4"/>
          <p:cNvSpPr/>
          <p:nvPr/>
        </p:nvSpPr>
        <p:spPr>
          <a:xfrm>
            <a:off x="365760" y="274320"/>
            <a:ext cx="2286000" cy="347472"/>
          </a:xfrm>
          <a:prstGeom prst="roundRect">
            <a:avLst>
              <a:gd fmla="val 39474" name="adj"/>
            </a:avLst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365760" y="27432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65760" y="777240"/>
            <a:ext cx="5943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App Service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8" name="Google Shape;4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057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4"/>
          <p:cNvSpPr/>
          <p:nvPr/>
        </p:nvSpPr>
        <p:spPr>
          <a:xfrm>
            <a:off x="749808" y="202996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Fully managed PaaS — no server management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0" name="Google Shape;4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5328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4"/>
          <p:cNvSpPr/>
          <p:nvPr/>
        </p:nvSpPr>
        <p:spPr>
          <a:xfrm>
            <a:off x="749808" y="2505456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Supports .NET, Node, Python, Java, PHP, Ruby &amp; containers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2" name="Google Shape;4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0083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4"/>
          <p:cNvSpPr/>
          <p:nvPr/>
        </p:nvSpPr>
        <p:spPr>
          <a:xfrm>
            <a:off x="749808" y="2980944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Built-in auto-scale, deployment slots &amp; CI/CD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4838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4"/>
          <p:cNvSpPr/>
          <p:nvPr/>
        </p:nvSpPr>
        <p:spPr>
          <a:xfrm>
            <a:off x="749808" y="345643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Enterprise-grade security: AAD auth, SSL, VNet, Key Vault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9593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4"/>
          <p:cNvSpPr/>
          <p:nvPr/>
        </p:nvSpPr>
        <p:spPr>
          <a:xfrm>
            <a:off x="749808" y="393192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Internal architecture: Front Ends + Workers + Controller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8" name="Google Shape;4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4434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4"/>
          <p:cNvSpPr/>
          <p:nvPr/>
        </p:nvSpPr>
        <p:spPr>
          <a:xfrm>
            <a:off x="749808" y="44074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E0F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7E0F4"/>
                </a:solidFill>
                <a:latin typeface="Calibri"/>
                <a:ea typeface="Calibri"/>
                <a:cs typeface="Calibri"/>
                <a:sym typeface="Calibri"/>
              </a:rPr>
              <a:t>Pay-as-you-go tiers: Free → Isolated for every workload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365760" y="4754880"/>
            <a:ext cx="548640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azure.microsoft.com/en-us/products/app-service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