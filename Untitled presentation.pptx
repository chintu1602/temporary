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eeac19c6f5_2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eeac19c6f5_2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eeac19c6f5_2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eeac19c6f5_2_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eeac19c6f5_2_1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g3eeac19c6f5_2_1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eac19c6f5_2_4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g3eeac19c6f5_2_4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eeac19c6f5_2_4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eac19c6f5_2_10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eeac19c6f5_2_10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eeac19c6f5_2_10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eeac19c6f5_2_16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g3eeac19c6f5_2_16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g3eeac19c6f5_2_16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eeac19c6f5_2_19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g3eeac19c6f5_2_19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eeac19c6f5_2_19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eeac19c6f5_2_23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g3eeac19c6f5_2_23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3eeac19c6f5_2_23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eeac19c6f5_2_28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g3eeac19c6f5_2_28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eac19c6f5_2_28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0BFA5">
              <a:alpha val="12156"/>
            </a:srgbClr>
          </a:solidFill>
          <a:ln cap="flat" cmpd="sng" w="12700">
            <a:solidFill>
              <a:srgbClr val="00BFA5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4FC3F7">
              <a:alpha val="10196"/>
            </a:srgbClr>
          </a:solidFill>
          <a:ln cap="flat" cmpd="sng" w="12700">
            <a:solidFill>
              <a:srgbClr val="4FC3F7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5"/>
          <p:cNvSpPr/>
          <p:nvPr/>
        </p:nvSpPr>
        <p:spPr>
          <a:xfrm>
            <a:off x="548640" y="1005840"/>
            <a:ext cx="2011680" cy="292608"/>
          </a:xfrm>
          <a:prstGeom prst="roundRect">
            <a:avLst>
              <a:gd fmla="val 15625" name="adj"/>
            </a:avLst>
          </a:prstGeom>
          <a:solidFill>
            <a:srgbClr val="00BFA5">
              <a:alpha val="80000"/>
            </a:srgbClr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548640" y="98755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CLOUD COMPUTING PROJECT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48640" y="1508760"/>
            <a:ext cx="7772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NutriAI Health Portal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548640" y="2560320"/>
            <a:ext cx="2560320" cy="50292"/>
          </a:xfrm>
          <a:prstGeom prst="rect">
            <a:avLst/>
          </a:prstGeom>
          <a:solidFill>
            <a:srgbClr val="00BFA5"/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548640" y="2743200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800"/>
              <a:buFont typeface="Calibri"/>
              <a:buNone/>
            </a:pPr>
            <a:r>
              <a:rPr b="0" i="0" lang="en" sz="1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AI-Powered Health &amp; Nutrition Management Platform on Azure Cloud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Cloud Computing Course Project  •  Team: [Your Name(s)]  •  [Semester / Year]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Application Overview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0BFA5"/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6"/>
          <p:cNvSpPr/>
          <p:nvPr/>
        </p:nvSpPr>
        <p:spPr>
          <a:xfrm>
            <a:off x="365760" y="8229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502920" y="9326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📄  Document OCR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502920" y="12984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Upload prescriptions &amp; lab reports; extract text via Azure AI Document Intelligence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3246120" y="8229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6"/>
          <p:cNvSpPr/>
          <p:nvPr/>
        </p:nvSpPr>
        <p:spPr>
          <a:xfrm>
            <a:off x="3383280" y="9326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🧠  AI Diet Plans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3383280" y="12984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Personalized GPT-4 powered nutrition plans via Azure OpenAI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6126480" y="8229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6263640" y="9326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📊  Health Tracking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6263640" y="12984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Track weight, BP, blood sugar, calories with visual charts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365760" y="24231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502920" y="25328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🔐  Secure Auth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02920" y="28986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Microsoft Entra ID SSO + email/password with JWT 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3246120" y="24231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3383280" y="25328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🔔  Notifications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3383280" y="28986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Real-time alerts for document processing &amp; diet plan status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6126480" y="2423160"/>
            <a:ext cx="2651760" cy="1371600"/>
          </a:xfrm>
          <a:prstGeom prst="roundRect">
            <a:avLst>
              <a:gd fmla="val 6667" name="adj"/>
            </a:avLst>
          </a:prstGeom>
          <a:solidFill>
            <a:srgbClr val="152236"/>
          </a:solidFill>
          <a:ln cap="flat" cmpd="sng" w="12700">
            <a:solidFill>
              <a:srgbClr val="00BFA5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6263640" y="25328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⚙️  Admin Dashboard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6263640" y="2898648"/>
            <a:ext cx="2377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User management, role-based access control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365760" y="3977640"/>
            <a:ext cx="8412480" cy="731520"/>
          </a:xfrm>
          <a:prstGeom prst="roundRect">
            <a:avLst>
              <a:gd fmla="val 10000" name="adj"/>
            </a:avLst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594360" y="40416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Tech Stack: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594360" y="43159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• Frontend: Vite + JS (Nginx)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2606040" y="43159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• Backend: FastAPI + Gunicorn/Uvicorn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4617720" y="43159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• Database: PostgreSQL Flexible Server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6629400" y="43159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• Containers: Docker + Azure ACR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Application Architecture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0BFA5"/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182880" y="914400"/>
            <a:ext cx="1280160" cy="640080"/>
          </a:xfrm>
          <a:prstGeom prst="roundRect">
            <a:avLst>
              <a:gd fmla="val 11429" name="adj"/>
            </a:avLst>
          </a:prstGeom>
          <a:solidFill>
            <a:srgbClr val="1B5E20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228600" y="960120"/>
            <a:ext cx="11887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Internet Users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228600" y="1266444"/>
            <a:ext cx="1188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HTTP/HTTPS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17"/>
          <p:cNvCxnSpPr/>
          <p:nvPr/>
        </p:nvCxnSpPr>
        <p:spPr>
          <a:xfrm>
            <a:off x="1463040" y="1234440"/>
            <a:ext cx="365760" cy="0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1" name="Google Shape;111;p17"/>
          <p:cNvSpPr/>
          <p:nvPr/>
        </p:nvSpPr>
        <p:spPr>
          <a:xfrm>
            <a:off x="1828800" y="777240"/>
            <a:ext cx="1463040" cy="914400"/>
          </a:xfrm>
          <a:prstGeom prst="roundRect">
            <a:avLst>
              <a:gd fmla="val 8000" name="adj"/>
            </a:avLst>
          </a:prstGeom>
          <a:solidFill>
            <a:srgbClr val="0277B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1874520" y="82296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1874520" y="128016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Path-based routing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/api/* + /*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" name="Google Shape;114;p17"/>
          <p:cNvCxnSpPr/>
          <p:nvPr/>
        </p:nvCxnSpPr>
        <p:spPr>
          <a:xfrm>
            <a:off x="3291840" y="914400"/>
            <a:ext cx="365760" cy="0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5" name="Google Shape;115;p17"/>
          <p:cNvCxnSpPr/>
          <p:nvPr/>
        </p:nvCxnSpPr>
        <p:spPr>
          <a:xfrm>
            <a:off x="3291840" y="1463040"/>
            <a:ext cx="365760" cy="0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6" name="Google Shape;116;p17"/>
          <p:cNvSpPr/>
          <p:nvPr/>
        </p:nvSpPr>
        <p:spPr>
          <a:xfrm>
            <a:off x="3657600" y="685800"/>
            <a:ext cx="1371600" cy="640080"/>
          </a:xfrm>
          <a:prstGeom prst="roundRect">
            <a:avLst>
              <a:gd fmla="val 11429" name="adj"/>
            </a:avLst>
          </a:prstGeom>
          <a:solidFill>
            <a:srgbClr val="1565C0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7"/>
          <p:cNvSpPr/>
          <p:nvPr/>
        </p:nvSpPr>
        <p:spPr>
          <a:xfrm>
            <a:off x="3703320" y="731520"/>
            <a:ext cx="1280160" cy="35204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3703320" y="1037844"/>
            <a:ext cx="128016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Nginx :80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3657600" y="1417320"/>
            <a:ext cx="1371600" cy="640080"/>
          </a:xfrm>
          <a:prstGeom prst="roundRect">
            <a:avLst>
              <a:gd fmla="val 11429" name="adj"/>
            </a:avLst>
          </a:prstGeom>
          <a:solidFill>
            <a:srgbClr val="1565C0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3703320" y="1463040"/>
            <a:ext cx="1280160" cy="35204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3703320" y="1769364"/>
            <a:ext cx="128016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FastAPI :8000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17"/>
          <p:cNvCxnSpPr/>
          <p:nvPr/>
        </p:nvCxnSpPr>
        <p:spPr>
          <a:xfrm>
            <a:off x="5029200" y="182880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23" name="Google Shape;123;p17"/>
          <p:cNvSpPr/>
          <p:nvPr/>
        </p:nvSpPr>
        <p:spPr>
          <a:xfrm>
            <a:off x="5349240" y="731520"/>
            <a:ext cx="3566160" cy="3017520"/>
          </a:xfrm>
          <a:prstGeom prst="roundRect">
            <a:avLst>
              <a:gd fmla="val 3030" name="adj"/>
            </a:avLst>
          </a:prstGeom>
          <a:solidFill>
            <a:srgbClr val="0A1929"/>
          </a:solidFill>
          <a:ln cap="flat" cmpd="sng" w="12700">
            <a:solidFill>
              <a:srgbClr val="00BFA5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7"/>
          <p:cNvSpPr/>
          <p:nvPr/>
        </p:nvSpPr>
        <p:spPr>
          <a:xfrm>
            <a:off x="5440680" y="768096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Azure Services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5440680" y="109728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0277B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5486400" y="114300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7178040" y="109728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0277B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7223760" y="114300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Blob Storage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5440680" y="173736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6A1B9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7"/>
          <p:cNvSpPr/>
          <p:nvPr/>
        </p:nvSpPr>
        <p:spPr>
          <a:xfrm>
            <a:off x="5486400" y="178308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OpenAI GPT-4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7178040" y="173736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6A1B9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7"/>
          <p:cNvSpPr/>
          <p:nvPr/>
        </p:nvSpPr>
        <p:spPr>
          <a:xfrm>
            <a:off x="7223760" y="178308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 Intelligence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5440680" y="237744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E65100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5486400" y="242316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Service Bus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178040" y="237744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AD1457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7223760" y="242316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Vault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5440680" y="301752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00796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>
            <a:off x="5486400" y="306324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Insights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178040" y="3017520"/>
            <a:ext cx="1600200" cy="502920"/>
          </a:xfrm>
          <a:prstGeom prst="roundRect">
            <a:avLst>
              <a:gd fmla="val 14545" name="adj"/>
            </a:avLst>
          </a:prstGeom>
          <a:solidFill>
            <a:srgbClr val="1565C0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7223760" y="3063240"/>
            <a:ext cx="1508760" cy="2766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Entra 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1737360" y="685800"/>
            <a:ext cx="3474720" cy="3291840"/>
          </a:xfrm>
          <a:prstGeom prst="roundRect">
            <a:avLst>
              <a:gd fmla="val 2778" name="adj"/>
            </a:avLst>
          </a:prstGeom>
          <a:solidFill>
            <a:srgbClr val="000000">
              <a:alpha val="0"/>
            </a:srgbClr>
          </a:solidFill>
          <a:ln cap="flat" cmpd="sng" w="12700">
            <a:solidFill>
              <a:srgbClr val="4FC3F7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/>
          <p:nvPr/>
        </p:nvSpPr>
        <p:spPr>
          <a:xfrm>
            <a:off x="1874520" y="713232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VNet (10.0.0.0/16) — 5 Subnets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182880" y="3840480"/>
            <a:ext cx="8778240" cy="640080"/>
          </a:xfrm>
          <a:prstGeom prst="roundRect">
            <a:avLst>
              <a:gd fmla="val 11429" name="adj"/>
            </a:avLst>
          </a:prstGeom>
          <a:solidFill>
            <a:srgbClr val="091520"/>
          </a:solidFill>
          <a:ln cap="flat" cmpd="sng" w="12700">
            <a:solidFill>
              <a:srgbClr val="00BFA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365760" y="390448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Microservices: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1417320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auth-service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2487168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profile-service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3557016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diet-service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4626864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document-service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696712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health-service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6766560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notification-service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7836408" y="390448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50"/>
              <a:buFont typeface="Calibri"/>
              <a:buNone/>
            </a:pPr>
            <a:r>
              <a:rPr b="0" i="0" lang="en" sz="8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admin-service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Azure Resources Used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0BFA5"/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274320" y="749808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347472" y="841248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475488" y="813816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Service (×2)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75488" y="1042416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Frontend (Nginx) + Backend (FastAPI)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274320" y="1362456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347472" y="1453896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475488" y="1426464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Service Plan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75488" y="165506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Shared Linux plan (B1 dev / P1v2 prod)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274320" y="1975104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347472" y="2066544"/>
            <a:ext cx="54864" cy="347472"/>
          </a:xfrm>
          <a:prstGeom prst="roundRect">
            <a:avLst>
              <a:gd fmla="val 50000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475488" y="2039112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 Gateway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475488" y="2267712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Path-based routing, load balancing, health probes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274320" y="2587752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347472" y="2679192"/>
            <a:ext cx="54864" cy="347472"/>
          </a:xfrm>
          <a:prstGeom prst="roundRect">
            <a:avLst>
              <a:gd fmla="val 50000" name="adj"/>
            </a:avLst>
          </a:prstGeom>
          <a:solidFill>
            <a:srgbClr val="AD1457"/>
          </a:solidFill>
          <a:ln cap="flat" cmpd="sng" w="12700">
            <a:solidFill>
              <a:srgbClr val="AD14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475488" y="2651760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 Flexible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475488" y="288036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Primary database, private VNet access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74320" y="3200400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347472" y="3291840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8"/>
          <p:cNvSpPr/>
          <p:nvPr/>
        </p:nvSpPr>
        <p:spPr>
          <a:xfrm>
            <a:off x="475488" y="3264408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Blob Storage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475488" y="3493008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Document storage (prescriptions, lab reports)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274320" y="3813048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347472" y="3904488"/>
            <a:ext cx="54864" cy="347472"/>
          </a:xfrm>
          <a:prstGeom prst="roundRect">
            <a:avLst>
              <a:gd fmla="val 50000" name="adj"/>
            </a:avLst>
          </a:prstGeom>
          <a:solidFill>
            <a:srgbClr val="4527A0"/>
          </a:solidFill>
          <a:ln cap="flat" cmpd="sng" w="12700">
            <a:solidFill>
              <a:srgbClr val="4527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475488" y="3877056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Container Registry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475488" y="4105656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Docker image hosting (ACR)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274320" y="4425696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347472" y="4517136"/>
            <a:ext cx="54864" cy="347472"/>
          </a:xfrm>
          <a:prstGeom prst="roundRect">
            <a:avLst>
              <a:gd fmla="val 50000" name="adj"/>
            </a:avLst>
          </a:prstGeom>
          <a:solidFill>
            <a:srgbClr val="6A1B9A"/>
          </a:solidFill>
          <a:ln cap="flat" cmpd="sng" w="12700">
            <a:solidFill>
              <a:srgbClr val="6A1B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75488" y="4489704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Azure OpenAI (GPT-4)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475488" y="471830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AI diet plan generation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4663440" y="749808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8"/>
          <p:cNvSpPr/>
          <p:nvPr/>
        </p:nvSpPr>
        <p:spPr>
          <a:xfrm>
            <a:off x="4736592" y="841248"/>
            <a:ext cx="54864" cy="347472"/>
          </a:xfrm>
          <a:prstGeom prst="roundRect">
            <a:avLst>
              <a:gd fmla="val 50000" name="adj"/>
            </a:avLst>
          </a:prstGeom>
          <a:solidFill>
            <a:srgbClr val="6A1B9A"/>
          </a:solidFill>
          <a:ln cap="flat" cmpd="sng" w="12700">
            <a:solidFill>
              <a:srgbClr val="6A1B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4864608" y="813816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Document Intelligence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4864608" y="1042416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OCR text extraction from documents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4663440" y="1362456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4736592" y="1453896"/>
            <a:ext cx="54864" cy="347472"/>
          </a:xfrm>
          <a:prstGeom prst="roundRect">
            <a:avLst>
              <a:gd fmla="val 50000" name="adj"/>
            </a:avLst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4864608" y="1426464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Service Bus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4864608" y="165506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Async messaging — meal reminders topic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4663440" y="1975104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4736592" y="2066544"/>
            <a:ext cx="54864" cy="347472"/>
          </a:xfrm>
          <a:prstGeom prst="roundRect">
            <a:avLst>
              <a:gd fmla="val 50000" name="adj"/>
            </a:avLst>
          </a:prstGeom>
          <a:solidFill>
            <a:srgbClr val="B71C1C"/>
          </a:solidFill>
          <a:ln cap="flat" cmpd="sng" w="1270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4864608" y="2039112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Vault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4864608" y="2267712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Secrets management, purge protection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4663440" y="2587752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4736592" y="2679192"/>
            <a:ext cx="54864" cy="347472"/>
          </a:xfrm>
          <a:prstGeom prst="roundRect">
            <a:avLst>
              <a:gd fmla="val 50000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4864608" y="2651760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Virtual Network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4864608" y="288036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5 subnets, private DNS zones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4663440" y="3200400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4736592" y="3291840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8"/>
          <p:cNvSpPr/>
          <p:nvPr/>
        </p:nvSpPr>
        <p:spPr>
          <a:xfrm>
            <a:off x="4864608" y="3264408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Insights + Monitor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4864608" y="3493008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CPU, response time, error rate alerts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4663440" y="3813048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8"/>
          <p:cNvSpPr/>
          <p:nvPr/>
        </p:nvSpPr>
        <p:spPr>
          <a:xfrm>
            <a:off x="4736592" y="3904488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4864608" y="3877056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Microsoft Entra ID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4864608" y="4105656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SSO authentication (OAuth 2.0)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4663440" y="4425696"/>
            <a:ext cx="4206240" cy="530352"/>
          </a:xfrm>
          <a:prstGeom prst="roundRect">
            <a:avLst>
              <a:gd fmla="val 12069" name="adj"/>
            </a:avLst>
          </a:prstGeom>
          <a:solidFill>
            <a:srgbClr val="152236"/>
          </a:solidFill>
          <a:ln cap="flat" cmpd="sng" w="12700">
            <a:solidFill>
              <a:srgbClr val="1522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4736592" y="4517136"/>
            <a:ext cx="54864" cy="347472"/>
          </a:xfrm>
          <a:prstGeom prst="roundRect">
            <a:avLst>
              <a:gd fmla="val 50000" name="adj"/>
            </a:avLst>
          </a:prstGeom>
          <a:solidFill>
            <a:srgbClr val="00838F"/>
          </a:solidFill>
          <a:ln cap="flat" cmpd="sng" w="12700">
            <a:solidFill>
              <a:srgbClr val="0083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8"/>
          <p:cNvSpPr/>
          <p:nvPr/>
        </p:nvSpPr>
        <p:spPr>
          <a:xfrm>
            <a:off x="4864608" y="4489704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 Analytics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8"/>
          <p:cNvSpPr/>
          <p:nvPr/>
        </p:nvSpPr>
        <p:spPr>
          <a:xfrm>
            <a:off x="4864608" y="471830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Centralized workspace for all logs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9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Secrets Management — Azure Key Vault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FFB74D"/>
          </a:solidFill>
          <a:ln cap="flat" cmpd="sng" w="12700">
            <a:solidFill>
              <a:srgbClr val="FFB7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9"/>
          <p:cNvSpPr/>
          <p:nvPr/>
        </p:nvSpPr>
        <p:spPr>
          <a:xfrm>
            <a:off x="320040" y="822960"/>
            <a:ext cx="731520" cy="731520"/>
          </a:xfrm>
          <a:prstGeom prst="ellipse">
            <a:avLst/>
          </a:prstGeom>
          <a:solidFill>
            <a:srgbClr val="B71C1C"/>
          </a:solidFill>
          <a:ln cap="flat" cmpd="sng" w="1270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9"/>
          <p:cNvSpPr/>
          <p:nvPr/>
        </p:nvSpPr>
        <p:spPr>
          <a:xfrm>
            <a:off x="320040" y="82296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🔑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1188720" y="822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Critical Secrets Stored in Key Vault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1188720" y="1188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Auto-generated, never hardcoded, injected via App Settings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/>
          <p:nvPr/>
        </p:nvSpPr>
        <p:spPr>
          <a:xfrm>
            <a:off x="320040" y="1691640"/>
            <a:ext cx="4114800" cy="777240"/>
          </a:xfrm>
          <a:prstGeom prst="roundRect">
            <a:avLst>
              <a:gd fmla="val 9412" name="adj"/>
            </a:avLst>
          </a:prstGeom>
          <a:solidFill>
            <a:srgbClr val="1A1A2E"/>
          </a:solidFill>
          <a:ln cap="flat" cmpd="sng" w="12700">
            <a:solidFill>
              <a:srgbClr val="B71C1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9"/>
          <p:cNvSpPr/>
          <p:nvPr/>
        </p:nvSpPr>
        <p:spPr>
          <a:xfrm>
            <a:off x="457200" y="178308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B74D"/>
                </a:solidFill>
                <a:latin typeface="Calibri"/>
                <a:ea typeface="Calibri"/>
                <a:cs typeface="Calibri"/>
                <a:sym typeface="Calibri"/>
              </a:rPr>
              <a:t>🔏  jwt-secret-key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457200" y="20756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64-char random password for JWT token signing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4709160" y="1691640"/>
            <a:ext cx="4114800" cy="777240"/>
          </a:xfrm>
          <a:prstGeom prst="roundRect">
            <a:avLst>
              <a:gd fmla="val 9412" name="adj"/>
            </a:avLst>
          </a:prstGeom>
          <a:solidFill>
            <a:srgbClr val="1A1A2E"/>
          </a:solidFill>
          <a:ln cap="flat" cmpd="sng" w="12700">
            <a:solidFill>
              <a:srgbClr val="B71C1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9"/>
          <p:cNvSpPr/>
          <p:nvPr/>
        </p:nvSpPr>
        <p:spPr>
          <a:xfrm>
            <a:off x="4846320" y="178308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B74D"/>
                </a:solidFill>
                <a:latin typeface="Calibri"/>
                <a:ea typeface="Calibri"/>
                <a:cs typeface="Calibri"/>
                <a:sym typeface="Calibri"/>
              </a:rPr>
              <a:t>🗃️  db-password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4846320" y="20756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32-char password for PostgreSQL admin access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320040" y="2606040"/>
            <a:ext cx="4114800" cy="777240"/>
          </a:xfrm>
          <a:prstGeom prst="roundRect">
            <a:avLst>
              <a:gd fmla="val 9412" name="adj"/>
            </a:avLst>
          </a:prstGeom>
          <a:solidFill>
            <a:srgbClr val="1A1A2E"/>
          </a:solidFill>
          <a:ln cap="flat" cmpd="sng" w="12700">
            <a:solidFill>
              <a:srgbClr val="B71C1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457200" y="269748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B74D"/>
                </a:solidFill>
                <a:latin typeface="Calibri"/>
                <a:ea typeface="Calibri"/>
                <a:cs typeface="Calibri"/>
                <a:sym typeface="Calibri"/>
              </a:rPr>
              <a:t>🏢  entra-client-secret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457200" y="29900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Microsoft Entra ID OAuth 2.0 client secret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4709160" y="2606040"/>
            <a:ext cx="4114800" cy="777240"/>
          </a:xfrm>
          <a:prstGeom prst="roundRect">
            <a:avLst>
              <a:gd fmla="val 9412" name="adj"/>
            </a:avLst>
          </a:prstGeom>
          <a:solidFill>
            <a:srgbClr val="1A1A2E"/>
          </a:solidFill>
          <a:ln cap="flat" cmpd="sng" w="12700">
            <a:solidFill>
              <a:srgbClr val="B71C1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9"/>
          <p:cNvSpPr/>
          <p:nvPr/>
        </p:nvSpPr>
        <p:spPr>
          <a:xfrm>
            <a:off x="4846320" y="269748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B74D"/>
                </a:solidFill>
                <a:latin typeface="Calibri"/>
                <a:ea typeface="Calibri"/>
                <a:cs typeface="Calibri"/>
                <a:sym typeface="Calibri"/>
              </a:rPr>
              <a:t>📧  smtp-password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/>
          <p:nvPr/>
        </p:nvSpPr>
        <p:spPr>
          <a:xfrm>
            <a:off x="4846320" y="29900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Email service authentication password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320040" y="3566160"/>
            <a:ext cx="85039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✓  Purge protection enabled — soft delete with 7-day retention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320040" y="3858768"/>
            <a:ext cx="85039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✓  Access policies restrict permissions to Terraform service principal only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20040" y="4151376"/>
            <a:ext cx="85039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✓  Secrets injected into App Service via app_settings — never hardcoded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9"/>
          <p:cNvSpPr/>
          <p:nvPr/>
        </p:nvSpPr>
        <p:spPr>
          <a:xfrm>
            <a:off x="320040" y="4443984"/>
            <a:ext cx="85039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✓  Terraform auto-generates random passwords using random_password resource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Infrastructure as Code — Terraform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7B42BC"/>
          </a:solidFill>
          <a:ln cap="flat" cmpd="sng" w="12700">
            <a:solidFill>
              <a:srgbClr val="7B42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0"/>
          <p:cNvSpPr/>
          <p:nvPr/>
        </p:nvSpPr>
        <p:spPr>
          <a:xfrm>
            <a:off x="320040" y="777240"/>
            <a:ext cx="3840480" cy="822960"/>
          </a:xfrm>
          <a:prstGeom prst="roundRect">
            <a:avLst>
              <a:gd fmla="val 8889" name="adj"/>
            </a:avLst>
          </a:prstGeom>
          <a:solidFill>
            <a:srgbClr val="152236"/>
          </a:solidFill>
          <a:ln cap="flat" cmpd="sng" w="12700">
            <a:solidFill>
              <a:srgbClr val="7B42B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0"/>
          <p:cNvSpPr/>
          <p:nvPr/>
        </p:nvSpPr>
        <p:spPr>
          <a:xfrm>
            <a:off x="502920" y="86868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🏗️  15 Reusable Modules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502920" y="1179576"/>
            <a:ext cx="3566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Each module: main.tf + variables.tf + outputs.tf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320040" y="1783080"/>
            <a:ext cx="3840480" cy="822960"/>
          </a:xfrm>
          <a:prstGeom prst="roundRect">
            <a:avLst>
              <a:gd fmla="val 8889" name="adj"/>
            </a:avLst>
          </a:prstGeom>
          <a:solidFill>
            <a:srgbClr val="152236"/>
          </a:solidFill>
          <a:ln cap="flat" cmpd="sng" w="12700">
            <a:solidFill>
              <a:srgbClr val="7B42B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502920" y="187452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☁️  Remote State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502920" y="2185416"/>
            <a:ext cx="3566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Backend state stored in Azure Blob Storage container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/>
          <p:nvPr/>
        </p:nvSpPr>
        <p:spPr>
          <a:xfrm>
            <a:off x="320040" y="2788920"/>
            <a:ext cx="3840480" cy="822960"/>
          </a:xfrm>
          <a:prstGeom prst="roundRect">
            <a:avLst>
              <a:gd fmla="val 8889" name="adj"/>
            </a:avLst>
          </a:prstGeom>
          <a:solidFill>
            <a:srgbClr val="152236"/>
          </a:solidFill>
          <a:ln cap="flat" cmpd="sng" w="12700">
            <a:solidFill>
              <a:srgbClr val="7B42B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502920" y="288036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📌  Pinned Providers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0"/>
          <p:cNvSpPr/>
          <p:nvPr/>
        </p:nvSpPr>
        <p:spPr>
          <a:xfrm>
            <a:off x="502920" y="3191256"/>
            <a:ext cx="3566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azurerm ~&gt; 3.85  ·  azuread ~&gt; 2.47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0"/>
          <p:cNvSpPr/>
          <p:nvPr/>
        </p:nvSpPr>
        <p:spPr>
          <a:xfrm>
            <a:off x="320040" y="3794760"/>
            <a:ext cx="3840480" cy="822960"/>
          </a:xfrm>
          <a:prstGeom prst="roundRect">
            <a:avLst>
              <a:gd fmla="val 8889" name="adj"/>
            </a:avLst>
          </a:prstGeom>
          <a:solidFill>
            <a:srgbClr val="152236"/>
          </a:solidFill>
          <a:ln cap="flat" cmpd="sng" w="12700">
            <a:solidFill>
              <a:srgbClr val="7B42B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0"/>
          <p:cNvSpPr/>
          <p:nvPr/>
        </p:nvSpPr>
        <p:spPr>
          <a:xfrm>
            <a:off x="502920" y="388620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🔄  Full Lifecycle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0"/>
          <p:cNvSpPr/>
          <p:nvPr/>
        </p:nvSpPr>
        <p:spPr>
          <a:xfrm>
            <a:off x="502920" y="4197096"/>
            <a:ext cx="3566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Plan → Apply → Destroy — entire infra is code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/>
          <p:nvPr/>
        </p:nvSpPr>
        <p:spPr>
          <a:xfrm>
            <a:off x="4434840" y="777240"/>
            <a:ext cx="4389120" cy="3977640"/>
          </a:xfrm>
          <a:prstGeom prst="roundRect">
            <a:avLst>
              <a:gd fmla="val 2299" name="adj"/>
            </a:avLst>
          </a:prstGeom>
          <a:solidFill>
            <a:srgbClr val="0A0A1A"/>
          </a:solidFill>
          <a:ln cap="flat" cmpd="sng" w="12700">
            <a:solidFill>
              <a:srgbClr val="7B42B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0"/>
          <p:cNvSpPr/>
          <p:nvPr/>
        </p:nvSpPr>
        <p:spPr>
          <a:xfrm>
            <a:off x="45720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15 Terraform Modules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/>
          <p:nvPr/>
        </p:nvSpPr>
        <p:spPr>
          <a:xfrm>
            <a:off x="4617720" y="129844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resource_group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6766560" y="129844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vnet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0"/>
          <p:cNvSpPr/>
          <p:nvPr/>
        </p:nvSpPr>
        <p:spPr>
          <a:xfrm>
            <a:off x="4617720" y="171907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key_vault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/>
          <p:nvPr/>
        </p:nvSpPr>
        <p:spPr>
          <a:xfrm>
            <a:off x="6766560" y="171907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postgresql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/>
          <p:nvPr/>
        </p:nvSpPr>
        <p:spPr>
          <a:xfrm>
            <a:off x="4617720" y="2139696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storage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/>
          <p:nvPr/>
        </p:nvSpPr>
        <p:spPr>
          <a:xfrm>
            <a:off x="6766560" y="2139696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container_registry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4617720" y="256032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app_service_plan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/>
          <p:nvPr/>
        </p:nvSpPr>
        <p:spPr>
          <a:xfrm>
            <a:off x="6766560" y="256032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app_service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/>
          <p:nvPr/>
        </p:nvSpPr>
        <p:spPr>
          <a:xfrm>
            <a:off x="4617720" y="2980944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frontend_app_service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/>
          <p:nvPr/>
        </p:nvSpPr>
        <p:spPr>
          <a:xfrm>
            <a:off x="6766560" y="2980944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application_gateway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4617720" y="34015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openai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0"/>
          <p:cNvSpPr/>
          <p:nvPr/>
        </p:nvSpPr>
        <p:spPr>
          <a:xfrm>
            <a:off x="6766560" y="34015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service_bus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0"/>
          <p:cNvSpPr/>
          <p:nvPr/>
        </p:nvSpPr>
        <p:spPr>
          <a:xfrm>
            <a:off x="4617720" y="382219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monitoring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/>
          <p:nvPr/>
        </p:nvSpPr>
        <p:spPr>
          <a:xfrm>
            <a:off x="6766560" y="382219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alerts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0"/>
          <p:cNvSpPr/>
          <p:nvPr/>
        </p:nvSpPr>
        <p:spPr>
          <a:xfrm>
            <a:off x="4617720" y="4242816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◆  entra_id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0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1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Terraform Module Architecture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7B42BC"/>
          </a:solidFill>
          <a:ln cap="flat" cmpd="sng" w="12700">
            <a:solidFill>
              <a:srgbClr val="7B42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1"/>
          <p:cNvSpPr/>
          <p:nvPr/>
        </p:nvSpPr>
        <p:spPr>
          <a:xfrm>
            <a:off x="3474720" y="804672"/>
            <a:ext cx="2194560" cy="548640"/>
          </a:xfrm>
          <a:prstGeom prst="roundRect">
            <a:avLst>
              <a:gd fmla="val 13333" name="adj"/>
            </a:avLst>
          </a:prstGeom>
          <a:solidFill>
            <a:srgbClr val="4A148C"/>
          </a:solidFill>
          <a:ln cap="flat" cmpd="sng" w="12700">
            <a:solidFill>
              <a:srgbClr val="4A14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1"/>
          <p:cNvSpPr/>
          <p:nvPr/>
        </p:nvSpPr>
        <p:spPr>
          <a:xfrm>
            <a:off x="3474720" y="804672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modules.tf (Root)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18288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1B5E20"/>
          </a:solidFill>
          <a:ln cap="flat" cmpd="sng" w="12700">
            <a:solidFill>
              <a:srgbClr val="1B5E2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1"/>
          <p:cNvSpPr/>
          <p:nvPr/>
        </p:nvSpPr>
        <p:spPr>
          <a:xfrm>
            <a:off x="18288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resource_group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7" name="Google Shape;297;p21"/>
          <p:cNvCxnSpPr/>
          <p:nvPr/>
        </p:nvCxnSpPr>
        <p:spPr>
          <a:xfrm rot="10800000">
            <a:off x="86868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98" name="Google Shape;298;p21"/>
          <p:cNvSpPr/>
          <p:nvPr/>
        </p:nvSpPr>
        <p:spPr>
          <a:xfrm>
            <a:off x="164592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164592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vnet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0" name="Google Shape;300;p21"/>
          <p:cNvCxnSpPr/>
          <p:nvPr/>
        </p:nvCxnSpPr>
        <p:spPr>
          <a:xfrm rot="10800000">
            <a:off x="233172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01" name="Google Shape;301;p21"/>
          <p:cNvSpPr/>
          <p:nvPr/>
        </p:nvSpPr>
        <p:spPr>
          <a:xfrm>
            <a:off x="310896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1"/>
          <p:cNvSpPr/>
          <p:nvPr/>
        </p:nvSpPr>
        <p:spPr>
          <a:xfrm>
            <a:off x="310896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container_registry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 rot="10800000">
            <a:off x="379476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/>
          <p:nvPr/>
        </p:nvSpPr>
        <p:spPr>
          <a:xfrm>
            <a:off x="502920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1"/>
          <p:cNvSpPr/>
          <p:nvPr/>
        </p:nvSpPr>
        <p:spPr>
          <a:xfrm>
            <a:off x="502920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app_service_plan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6" name="Google Shape;306;p21"/>
          <p:cNvCxnSpPr/>
          <p:nvPr/>
        </p:nvCxnSpPr>
        <p:spPr>
          <a:xfrm rot="10800000">
            <a:off x="571500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07" name="Google Shape;307;p21"/>
          <p:cNvSpPr/>
          <p:nvPr/>
        </p:nvSpPr>
        <p:spPr>
          <a:xfrm>
            <a:off x="649224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1"/>
          <p:cNvSpPr/>
          <p:nvPr/>
        </p:nvSpPr>
        <p:spPr>
          <a:xfrm>
            <a:off x="649224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monitoring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9" name="Google Shape;309;p21"/>
          <p:cNvCxnSpPr/>
          <p:nvPr/>
        </p:nvCxnSpPr>
        <p:spPr>
          <a:xfrm rot="10800000">
            <a:off x="717804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10" name="Google Shape;310;p21"/>
          <p:cNvSpPr/>
          <p:nvPr/>
        </p:nvSpPr>
        <p:spPr>
          <a:xfrm>
            <a:off x="7772400" y="1691640"/>
            <a:ext cx="1371600" cy="475488"/>
          </a:xfrm>
          <a:prstGeom prst="roundRect">
            <a:avLst>
              <a:gd fmla="val 13462" name="adj"/>
            </a:avLst>
          </a:prstGeom>
          <a:solidFill>
            <a:srgbClr val="B71C1C"/>
          </a:solidFill>
          <a:ln cap="flat" cmpd="sng" w="1270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1"/>
          <p:cNvSpPr/>
          <p:nvPr/>
        </p:nvSpPr>
        <p:spPr>
          <a:xfrm>
            <a:off x="7772400" y="1691640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key_vault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 rot="10800000">
            <a:off x="8458200" y="1353312"/>
            <a:ext cx="0" cy="338328"/>
          </a:xfrm>
          <a:prstGeom prst="straightConnector1">
            <a:avLst/>
          </a:prstGeom>
          <a:noFill/>
          <a:ln cap="flat" cmpd="sng" w="12700">
            <a:solidFill>
              <a:srgbClr val="7B42B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/>
          <p:nvPr/>
        </p:nvSpPr>
        <p:spPr>
          <a:xfrm>
            <a:off x="457200" y="2743200"/>
            <a:ext cx="1417320" cy="475488"/>
          </a:xfrm>
          <a:prstGeom prst="roundRect">
            <a:avLst>
              <a:gd fmla="val 13462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1"/>
          <p:cNvSpPr/>
          <p:nvPr/>
        </p:nvSpPr>
        <p:spPr>
          <a:xfrm>
            <a:off x="457200" y="274320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app_service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/>
          <p:nvPr/>
        </p:nvSpPr>
        <p:spPr>
          <a:xfrm>
            <a:off x="2011680" y="2743200"/>
            <a:ext cx="1417320" cy="475488"/>
          </a:xfrm>
          <a:prstGeom prst="roundRect">
            <a:avLst>
              <a:gd fmla="val 13462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1"/>
          <p:cNvSpPr/>
          <p:nvPr/>
        </p:nvSpPr>
        <p:spPr>
          <a:xfrm>
            <a:off x="2011680" y="274320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frontend_app_service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1"/>
          <p:cNvSpPr/>
          <p:nvPr/>
        </p:nvSpPr>
        <p:spPr>
          <a:xfrm>
            <a:off x="3840480" y="2743200"/>
            <a:ext cx="1417320" cy="475488"/>
          </a:xfrm>
          <a:prstGeom prst="roundRect">
            <a:avLst>
              <a:gd fmla="val 13462" name="adj"/>
            </a:avLst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1"/>
          <p:cNvSpPr/>
          <p:nvPr/>
        </p:nvSpPr>
        <p:spPr>
          <a:xfrm>
            <a:off x="3840480" y="274320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application_gateway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5577840" y="2743200"/>
            <a:ext cx="1417320" cy="475488"/>
          </a:xfrm>
          <a:prstGeom prst="roundRect">
            <a:avLst>
              <a:gd fmla="val 13462" name="adj"/>
            </a:avLst>
          </a:prstGeom>
          <a:solidFill>
            <a:srgbClr val="AD1457"/>
          </a:solidFill>
          <a:ln cap="flat" cmpd="sng" w="12700">
            <a:solidFill>
              <a:srgbClr val="AD1457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1"/>
          <p:cNvSpPr/>
          <p:nvPr/>
        </p:nvSpPr>
        <p:spPr>
          <a:xfrm>
            <a:off x="5577840" y="274320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1"/>
          <p:cNvSpPr/>
          <p:nvPr/>
        </p:nvSpPr>
        <p:spPr>
          <a:xfrm>
            <a:off x="7040880" y="2743200"/>
            <a:ext cx="1417320" cy="475488"/>
          </a:xfrm>
          <a:prstGeom prst="roundRect">
            <a:avLst>
              <a:gd fmla="val 13462" name="adj"/>
            </a:avLst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1"/>
          <p:cNvSpPr/>
          <p:nvPr/>
        </p:nvSpPr>
        <p:spPr>
          <a:xfrm>
            <a:off x="7040880" y="274320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alerts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3" name="Google Shape;323;p21"/>
          <p:cNvCxnSpPr/>
          <p:nvPr/>
        </p:nvCxnSpPr>
        <p:spPr>
          <a:xfrm flipH="1">
            <a:off x="1165860" y="1929384"/>
            <a:ext cx="251460" cy="813816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4" name="Google Shape;324;p21"/>
          <p:cNvSpPr/>
          <p:nvPr/>
        </p:nvSpPr>
        <p:spPr>
          <a:xfrm>
            <a:off x="982980" y="224485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subnet IDs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5" name="Google Shape;325;p21"/>
          <p:cNvCxnSpPr/>
          <p:nvPr/>
        </p:nvCxnSpPr>
        <p:spPr>
          <a:xfrm>
            <a:off x="3794760" y="1929384"/>
            <a:ext cx="754380" cy="813816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6" name="Google Shape;326;p21"/>
          <p:cNvSpPr/>
          <p:nvPr/>
        </p:nvSpPr>
        <p:spPr>
          <a:xfrm>
            <a:off x="3611880" y="224485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ACR creds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7" name="Google Shape;327;p21"/>
          <p:cNvCxnSpPr/>
          <p:nvPr/>
        </p:nvCxnSpPr>
        <p:spPr>
          <a:xfrm>
            <a:off x="5715000" y="1929384"/>
            <a:ext cx="571500" cy="813816"/>
          </a:xfrm>
          <a:prstGeom prst="straightConnector1">
            <a:avLst/>
          </a:prstGeom>
          <a:noFill/>
          <a:ln cap="flat" cmpd="sng" w="1905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8" name="Google Shape;328;p21"/>
          <p:cNvSpPr/>
          <p:nvPr/>
        </p:nvSpPr>
        <p:spPr>
          <a:xfrm>
            <a:off x="5532120" y="224485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insights key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1"/>
          <p:cNvSpPr/>
          <p:nvPr/>
        </p:nvSpPr>
        <p:spPr>
          <a:xfrm>
            <a:off x="365760" y="340156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→ Arrows show data/credentials flowing between modules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1"/>
          <p:cNvSpPr/>
          <p:nvPr/>
        </p:nvSpPr>
        <p:spPr>
          <a:xfrm>
            <a:off x="274320" y="3749040"/>
            <a:ext cx="8595360" cy="237744"/>
          </a:xfrm>
          <a:prstGeom prst="roundRect">
            <a:avLst>
              <a:gd fmla="val 15385" name="adj"/>
            </a:avLst>
          </a:prstGeom>
          <a:solidFill>
            <a:srgbClr val="0A1929"/>
          </a:solidFill>
          <a:ln cap="flat" cmpd="sng" w="12700">
            <a:solidFill>
              <a:srgbClr val="0815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1"/>
          <p:cNvSpPr/>
          <p:nvPr/>
        </p:nvSpPr>
        <p:spPr>
          <a:xfrm>
            <a:off x="411480" y="3749040"/>
            <a:ext cx="5943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vnet → app_service, frontend, app_gateway, postgresql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1"/>
          <p:cNvSpPr/>
          <p:nvPr/>
        </p:nvSpPr>
        <p:spPr>
          <a:xfrm>
            <a:off x="6583680" y="3749040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5 subnet IDs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1"/>
          <p:cNvSpPr/>
          <p:nvPr/>
        </p:nvSpPr>
        <p:spPr>
          <a:xfrm>
            <a:off x="274320" y="4023360"/>
            <a:ext cx="8595360" cy="237744"/>
          </a:xfrm>
          <a:prstGeom prst="roundRect">
            <a:avLst>
              <a:gd fmla="val 15385" name="adj"/>
            </a:avLst>
          </a:prstGeom>
          <a:solidFill>
            <a:srgbClr val="081525"/>
          </a:solidFill>
          <a:ln cap="flat" cmpd="sng" w="12700">
            <a:solidFill>
              <a:srgbClr val="0815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1"/>
          <p:cNvSpPr/>
          <p:nvPr/>
        </p:nvSpPr>
        <p:spPr>
          <a:xfrm>
            <a:off x="411480" y="4023360"/>
            <a:ext cx="5943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container_registry → app_service, frontend_app_service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1"/>
          <p:cNvSpPr/>
          <p:nvPr/>
        </p:nvSpPr>
        <p:spPr>
          <a:xfrm>
            <a:off x="6583680" y="4023360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ACR login server + credentials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1"/>
          <p:cNvSpPr/>
          <p:nvPr/>
        </p:nvSpPr>
        <p:spPr>
          <a:xfrm>
            <a:off x="274320" y="4297680"/>
            <a:ext cx="8595360" cy="237744"/>
          </a:xfrm>
          <a:prstGeom prst="roundRect">
            <a:avLst>
              <a:gd fmla="val 15385" name="adj"/>
            </a:avLst>
          </a:prstGeom>
          <a:solidFill>
            <a:srgbClr val="0A1929"/>
          </a:solidFill>
          <a:ln cap="flat" cmpd="sng" w="12700">
            <a:solidFill>
              <a:srgbClr val="0815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1"/>
          <p:cNvSpPr/>
          <p:nvPr/>
        </p:nvSpPr>
        <p:spPr>
          <a:xfrm>
            <a:off x="411480" y="4297680"/>
            <a:ext cx="5943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monitoring → app_service, alerts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1"/>
          <p:cNvSpPr/>
          <p:nvPr/>
        </p:nvSpPr>
        <p:spPr>
          <a:xfrm>
            <a:off x="6583680" y="4297680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App Insights connection string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1"/>
          <p:cNvSpPr/>
          <p:nvPr/>
        </p:nvSpPr>
        <p:spPr>
          <a:xfrm>
            <a:off x="274320" y="4572000"/>
            <a:ext cx="8595360" cy="237744"/>
          </a:xfrm>
          <a:prstGeom prst="roundRect">
            <a:avLst>
              <a:gd fmla="val 15385" name="adj"/>
            </a:avLst>
          </a:prstGeom>
          <a:solidFill>
            <a:srgbClr val="081525"/>
          </a:solidFill>
          <a:ln cap="flat" cmpd="sng" w="12700">
            <a:solidFill>
              <a:srgbClr val="0815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411480" y="4572000"/>
            <a:ext cx="5943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key_vault → app_service, frontend_app_service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583680" y="4572000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Secrets via app_settings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1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D42"/>
          </a:solidFill>
          <a:ln cap="flat" cmpd="sng" w="12700">
            <a:solidFill>
              <a:srgbClr val="1A2D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2"/>
          <p:cNvSpPr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Multi-Environment Deployment — Terraform Workspaces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0BFA5"/>
          </a:solidFill>
          <a:ln cap="flat" cmpd="sng" w="12700">
            <a:solidFill>
              <a:srgbClr val="00B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2"/>
          <p:cNvSpPr/>
          <p:nvPr/>
        </p:nvSpPr>
        <p:spPr>
          <a:xfrm>
            <a:off x="320040" y="777240"/>
            <a:ext cx="4160520" cy="3017520"/>
          </a:xfrm>
          <a:prstGeom prst="roundRect">
            <a:avLst>
              <a:gd fmla="val 3030" name="adj"/>
            </a:avLst>
          </a:prstGeom>
          <a:solidFill>
            <a:srgbClr val="152236"/>
          </a:solidFill>
          <a:ln cap="flat" cmpd="sng" w="25400">
            <a:solidFill>
              <a:srgbClr val="1B5E2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2"/>
          <p:cNvSpPr/>
          <p:nvPr/>
        </p:nvSpPr>
        <p:spPr>
          <a:xfrm>
            <a:off x="502920" y="886968"/>
            <a:ext cx="1005840" cy="347472"/>
          </a:xfrm>
          <a:prstGeom prst="roundRect">
            <a:avLst>
              <a:gd fmla="val 15789" name="adj"/>
            </a:avLst>
          </a:prstGeom>
          <a:solidFill>
            <a:srgbClr val="1B5E20"/>
          </a:solidFill>
          <a:ln cap="flat" cmpd="sng" w="12700">
            <a:solidFill>
              <a:srgbClr val="1B5E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2"/>
          <p:cNvSpPr/>
          <p:nvPr/>
        </p:nvSpPr>
        <p:spPr>
          <a:xfrm>
            <a:off x="502920" y="886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2"/>
          <p:cNvSpPr/>
          <p:nvPr/>
        </p:nvSpPr>
        <p:spPr>
          <a:xfrm>
            <a:off x="1645920" y="9326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environments/dev.tfvars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2"/>
          <p:cNvSpPr/>
          <p:nvPr/>
        </p:nvSpPr>
        <p:spPr>
          <a:xfrm>
            <a:off x="502920" y="1417320"/>
            <a:ext cx="3794760" cy="420624"/>
          </a:xfrm>
          <a:prstGeom prst="rect">
            <a:avLst/>
          </a:prstGeom>
          <a:solidFill>
            <a:srgbClr val="0F1F30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2"/>
          <p:cNvSpPr/>
          <p:nvPr/>
        </p:nvSpPr>
        <p:spPr>
          <a:xfrm>
            <a:off x="594360" y="1472184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App Service SKU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2"/>
          <p:cNvSpPr/>
          <p:nvPr/>
        </p:nvSpPr>
        <p:spPr>
          <a:xfrm>
            <a:off x="2468880" y="1472184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4CAF50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2"/>
          <p:cNvSpPr/>
          <p:nvPr/>
        </p:nvSpPr>
        <p:spPr>
          <a:xfrm>
            <a:off x="502920" y="1892808"/>
            <a:ext cx="3794760" cy="420624"/>
          </a:xfrm>
          <a:prstGeom prst="rect">
            <a:avLst/>
          </a:prstGeom>
          <a:solidFill>
            <a:srgbClr val="0A1929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2"/>
          <p:cNvSpPr/>
          <p:nvPr/>
        </p:nvSpPr>
        <p:spPr>
          <a:xfrm>
            <a:off x="594360" y="1947672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PostgreSQL SKU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2"/>
          <p:cNvSpPr/>
          <p:nvPr/>
        </p:nvSpPr>
        <p:spPr>
          <a:xfrm>
            <a:off x="2468880" y="1947672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4CAF50"/>
                </a:solidFill>
                <a:latin typeface="Calibri"/>
                <a:ea typeface="Calibri"/>
                <a:cs typeface="Calibri"/>
                <a:sym typeface="Calibri"/>
              </a:rPr>
              <a:t>B_Standard_B1ms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2"/>
          <p:cNvSpPr/>
          <p:nvPr/>
        </p:nvSpPr>
        <p:spPr>
          <a:xfrm>
            <a:off x="502920" y="2368296"/>
            <a:ext cx="3794760" cy="420624"/>
          </a:xfrm>
          <a:prstGeom prst="rect">
            <a:avLst/>
          </a:prstGeom>
          <a:solidFill>
            <a:srgbClr val="0F1F30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2"/>
          <p:cNvSpPr/>
          <p:nvPr/>
        </p:nvSpPr>
        <p:spPr>
          <a:xfrm>
            <a:off x="594360" y="24231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App 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2"/>
          <p:cNvSpPr/>
          <p:nvPr/>
        </p:nvSpPr>
        <p:spPr>
          <a:xfrm>
            <a:off x="2468880" y="2423160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4CAF50"/>
                </a:solidFill>
                <a:latin typeface="Calibri"/>
                <a:ea typeface="Calibri"/>
                <a:cs typeface="Calibri"/>
                <a:sym typeface="Calibri"/>
              </a:rPr>
              <a:t>1 instance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/>
          <p:nvPr/>
        </p:nvSpPr>
        <p:spPr>
          <a:xfrm>
            <a:off x="502920" y="2843784"/>
            <a:ext cx="3794760" cy="420624"/>
          </a:xfrm>
          <a:prstGeom prst="rect">
            <a:avLst/>
          </a:prstGeom>
          <a:solidFill>
            <a:srgbClr val="0A1929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2"/>
          <p:cNvSpPr/>
          <p:nvPr/>
        </p:nvSpPr>
        <p:spPr>
          <a:xfrm>
            <a:off x="594360" y="2898648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Resource prefix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2"/>
          <p:cNvSpPr/>
          <p:nvPr/>
        </p:nvSpPr>
        <p:spPr>
          <a:xfrm>
            <a:off x="2468880" y="2898648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4CAF50"/>
                </a:solidFill>
                <a:latin typeface="Calibri"/>
                <a:ea typeface="Calibri"/>
                <a:cs typeface="Calibri"/>
                <a:sym typeface="Calibri"/>
              </a:rPr>
              <a:t>nutriai-dev-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2"/>
          <p:cNvSpPr/>
          <p:nvPr/>
        </p:nvSpPr>
        <p:spPr>
          <a:xfrm>
            <a:off x="4754880" y="777240"/>
            <a:ext cx="4160520" cy="3017520"/>
          </a:xfrm>
          <a:prstGeom prst="roundRect">
            <a:avLst>
              <a:gd fmla="val 3030" name="adj"/>
            </a:avLst>
          </a:prstGeom>
          <a:solidFill>
            <a:srgbClr val="152236"/>
          </a:solidFill>
          <a:ln cap="flat" cmpd="sng" w="2540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254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2"/>
          <p:cNvSpPr/>
          <p:nvPr/>
        </p:nvSpPr>
        <p:spPr>
          <a:xfrm>
            <a:off x="4937760" y="886968"/>
            <a:ext cx="1005840" cy="347472"/>
          </a:xfrm>
          <a:prstGeom prst="roundRect">
            <a:avLst>
              <a:gd fmla="val 15789" name="adj"/>
            </a:avLst>
          </a:prstGeom>
          <a:solidFill>
            <a:srgbClr val="B71C1C"/>
          </a:solidFill>
          <a:ln cap="flat" cmpd="sng" w="1270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2"/>
          <p:cNvSpPr/>
          <p:nvPr/>
        </p:nvSpPr>
        <p:spPr>
          <a:xfrm>
            <a:off x="4937760" y="886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2"/>
          <p:cNvSpPr/>
          <p:nvPr/>
        </p:nvSpPr>
        <p:spPr>
          <a:xfrm>
            <a:off x="6080760" y="9326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environments/prod.tfvars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2"/>
          <p:cNvSpPr/>
          <p:nvPr/>
        </p:nvSpPr>
        <p:spPr>
          <a:xfrm>
            <a:off x="4937760" y="1417320"/>
            <a:ext cx="3794760" cy="420624"/>
          </a:xfrm>
          <a:prstGeom prst="rect">
            <a:avLst/>
          </a:prstGeom>
          <a:solidFill>
            <a:srgbClr val="0F1F30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2"/>
          <p:cNvSpPr/>
          <p:nvPr/>
        </p:nvSpPr>
        <p:spPr>
          <a:xfrm>
            <a:off x="5029200" y="1472184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App Service SKU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2"/>
          <p:cNvSpPr/>
          <p:nvPr/>
        </p:nvSpPr>
        <p:spPr>
          <a:xfrm>
            <a:off x="6903720" y="1472184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53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EF5350"/>
                </a:solidFill>
                <a:latin typeface="Calibri"/>
                <a:ea typeface="Calibri"/>
                <a:cs typeface="Calibri"/>
                <a:sym typeface="Calibri"/>
              </a:rPr>
              <a:t>P1v2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2"/>
          <p:cNvSpPr/>
          <p:nvPr/>
        </p:nvSpPr>
        <p:spPr>
          <a:xfrm>
            <a:off x="4937760" y="1892808"/>
            <a:ext cx="3794760" cy="420624"/>
          </a:xfrm>
          <a:prstGeom prst="rect">
            <a:avLst/>
          </a:prstGeom>
          <a:solidFill>
            <a:srgbClr val="0A1929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2"/>
          <p:cNvSpPr/>
          <p:nvPr/>
        </p:nvSpPr>
        <p:spPr>
          <a:xfrm>
            <a:off x="5029200" y="1947672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PostgreSQL SKU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2"/>
          <p:cNvSpPr/>
          <p:nvPr/>
        </p:nvSpPr>
        <p:spPr>
          <a:xfrm>
            <a:off x="6903720" y="1947672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53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EF5350"/>
                </a:solidFill>
                <a:latin typeface="Calibri"/>
                <a:ea typeface="Calibri"/>
                <a:cs typeface="Calibri"/>
                <a:sym typeface="Calibri"/>
              </a:rPr>
              <a:t>GP_Standard_D2s_v3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2"/>
          <p:cNvSpPr/>
          <p:nvPr/>
        </p:nvSpPr>
        <p:spPr>
          <a:xfrm>
            <a:off x="4937760" y="2368296"/>
            <a:ext cx="3794760" cy="420624"/>
          </a:xfrm>
          <a:prstGeom prst="rect">
            <a:avLst/>
          </a:prstGeom>
          <a:solidFill>
            <a:srgbClr val="0F1F30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2"/>
          <p:cNvSpPr/>
          <p:nvPr/>
        </p:nvSpPr>
        <p:spPr>
          <a:xfrm>
            <a:off x="5029200" y="24231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App 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2"/>
          <p:cNvSpPr/>
          <p:nvPr/>
        </p:nvSpPr>
        <p:spPr>
          <a:xfrm>
            <a:off x="6903720" y="2423160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53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EF5350"/>
                </a:solidFill>
                <a:latin typeface="Calibri"/>
                <a:ea typeface="Calibri"/>
                <a:cs typeface="Calibri"/>
                <a:sym typeface="Calibri"/>
              </a:rPr>
              <a:t>2 instances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2"/>
          <p:cNvSpPr/>
          <p:nvPr/>
        </p:nvSpPr>
        <p:spPr>
          <a:xfrm>
            <a:off x="4937760" y="2843784"/>
            <a:ext cx="3794760" cy="420624"/>
          </a:xfrm>
          <a:prstGeom prst="rect">
            <a:avLst/>
          </a:prstGeom>
          <a:solidFill>
            <a:srgbClr val="0A1929"/>
          </a:solidFill>
          <a:ln cap="flat" cmpd="sng" w="12700">
            <a:solidFill>
              <a:srgbClr val="0A19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2"/>
          <p:cNvSpPr/>
          <p:nvPr/>
        </p:nvSpPr>
        <p:spPr>
          <a:xfrm>
            <a:off x="5029200" y="2898648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Resource prefix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2"/>
          <p:cNvSpPr/>
          <p:nvPr/>
        </p:nvSpPr>
        <p:spPr>
          <a:xfrm>
            <a:off x="6903720" y="2898648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5350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EF5350"/>
                </a:solidFill>
                <a:latin typeface="Calibri"/>
                <a:ea typeface="Calibri"/>
                <a:cs typeface="Calibri"/>
                <a:sym typeface="Calibri"/>
              </a:rPr>
              <a:t>nutriai-prod-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2"/>
          <p:cNvSpPr/>
          <p:nvPr/>
        </p:nvSpPr>
        <p:spPr>
          <a:xfrm>
            <a:off x="320040" y="3913632"/>
            <a:ext cx="8503920" cy="822960"/>
          </a:xfrm>
          <a:prstGeom prst="roundRect">
            <a:avLst>
              <a:gd fmla="val 8889" name="adj"/>
            </a:avLst>
          </a:prstGeom>
          <a:solidFill>
            <a:srgbClr val="050D1A"/>
          </a:solidFill>
          <a:ln cap="flat" cmpd="sng" w="12700">
            <a:solidFill>
              <a:srgbClr val="00BFA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22"/>
          <p:cNvSpPr/>
          <p:nvPr/>
        </p:nvSpPr>
        <p:spPr>
          <a:xfrm>
            <a:off x="502920" y="397764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FA5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00BFA5"/>
                </a:solidFill>
                <a:latin typeface="Calibri"/>
                <a:ea typeface="Calibri"/>
                <a:cs typeface="Calibri"/>
                <a:sym typeface="Calibri"/>
              </a:rPr>
              <a:t>CLI Commands: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2"/>
          <p:cNvSpPr/>
          <p:nvPr/>
        </p:nvSpPr>
        <p:spPr>
          <a:xfrm>
            <a:off x="502920" y="4251960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000"/>
              <a:buFont typeface="Courier New"/>
              <a:buNone/>
            </a:pPr>
            <a:r>
              <a:rPr b="0" i="0" lang="en" sz="1000" u="none" cap="none" strike="noStrike">
                <a:solidFill>
                  <a:srgbClr val="FFB74D"/>
                </a:solidFill>
                <a:latin typeface="Courier New"/>
                <a:ea typeface="Courier New"/>
                <a:cs typeface="Courier New"/>
                <a:sym typeface="Courier New"/>
              </a:rPr>
              <a:t>terraform workspace select dev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2"/>
          <p:cNvSpPr/>
          <p:nvPr/>
        </p:nvSpPr>
        <p:spPr>
          <a:xfrm>
            <a:off x="4617720" y="4251960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000"/>
              <a:buFont typeface="Courier New"/>
              <a:buNone/>
            </a:pPr>
            <a:r>
              <a:rPr b="0" i="0" lang="en" sz="1000" u="none" cap="none" strike="noStrike">
                <a:solidFill>
                  <a:srgbClr val="FFB74D"/>
                </a:solidFill>
                <a:latin typeface="Courier New"/>
                <a:ea typeface="Courier New"/>
                <a:cs typeface="Courier New"/>
                <a:sym typeface="Courier New"/>
              </a:rPr>
              <a:t>terraform plan -var-file=environments/dev.tfvars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2"/>
          <p:cNvSpPr/>
          <p:nvPr/>
        </p:nvSpPr>
        <p:spPr>
          <a:xfrm>
            <a:off x="502920" y="4498848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000"/>
              <a:buFont typeface="Courier New"/>
              <a:buNone/>
            </a:pPr>
            <a:r>
              <a:rPr b="0" i="0" lang="en" sz="1000" u="none" cap="none" strike="noStrike">
                <a:solidFill>
                  <a:srgbClr val="FFB74D"/>
                </a:solidFill>
                <a:latin typeface="Courier New"/>
                <a:ea typeface="Courier New"/>
                <a:cs typeface="Courier New"/>
                <a:sym typeface="Courier New"/>
              </a:rPr>
              <a:t>terraform workspace select prod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2"/>
          <p:cNvSpPr/>
          <p:nvPr/>
        </p:nvSpPr>
        <p:spPr>
          <a:xfrm>
            <a:off x="4617720" y="4498848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74D"/>
              </a:buClr>
              <a:buSzPts val="1000"/>
              <a:buFont typeface="Courier New"/>
              <a:buNone/>
            </a:pPr>
            <a:r>
              <a:rPr b="0" i="0" lang="en" sz="1000" u="none" cap="none" strike="noStrike">
                <a:solidFill>
                  <a:srgbClr val="FFB74D"/>
                </a:solidFill>
                <a:latin typeface="Courier New"/>
                <a:ea typeface="Courier New"/>
                <a:cs typeface="Courier New"/>
                <a:sym typeface="Courier New"/>
              </a:rPr>
              <a:t>terraform apply -var-file=environments/prod.tfvars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2"/>
          <p:cNvSpPr/>
          <p:nvPr/>
        </p:nvSpPr>
        <p:spPr>
          <a:xfrm>
            <a:off x="320040" y="4800600"/>
            <a:ext cx="8503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State isolation: each workspace has its own state file in Azure Blob Storage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2"/>
          <p:cNvSpPr/>
          <p:nvPr/>
        </p:nvSpPr>
        <p:spPr>
          <a:xfrm>
            <a:off x="8686800" y="475488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