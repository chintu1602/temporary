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b11bcaaf9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b11bcaaf9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b11bcaaf9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b11bcaaf9_2_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eb11bcaaf9_2_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eb11bcaaf9_2_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b11bcaaf9_2_1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eb11bcaaf9_2_1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b11bcaaf9_2_1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b11bcaaf9_2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eb11bcaaf9_2_1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b11bcaaf9_2_1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b11bcaaf9_2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eb11bcaaf9_2_1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b11bcaaf9_2_1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b11bcaaf9_2_2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eb11bcaaf9_2_2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b11bcaaf9_2_2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b11bcaaf9_2_2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eb11bcaaf9_2_2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eb11bcaaf9_2_2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b11bcaaf9_2_3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eb11bcaaf9_2_3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eb11bcaaf9_2_3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b11bcaaf9_2_3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eb11bcaaf9_2_3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eb11bcaaf9_2_3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1B5EBE">
              <a:alpha val="18039"/>
            </a:srgbClr>
          </a:solidFill>
          <a:ln cap="flat" cmpd="sng" w="12700">
            <a:solidFill>
              <a:srgbClr val="1B5EB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2E86DE">
              <a:alpha val="12156"/>
            </a:srgbClr>
          </a:solidFill>
          <a:ln cap="flat" cmpd="sng" w="12700">
            <a:solidFill>
              <a:srgbClr val="2E86DE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164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457200" y="9601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5200"/>
              <a:buFont typeface="Calibri"/>
              <a:buNone/>
            </a:pPr>
            <a:r>
              <a:rPr b="1" i="0" lang="en" sz="5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MediShift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57200" y="182880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BE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Production-Grade Azure Cloud Infrastructure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3-Tier Healthcare Staff &amp; Shift Management System on Microsoft Azure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57200" y="3154680"/>
            <a:ext cx="1078992" cy="292608"/>
          </a:xfrm>
          <a:prstGeom prst="roundRect">
            <a:avLst>
              <a:gd fmla="val 25000" name="adj"/>
            </a:avLst>
          </a:prstGeom>
          <a:solidFill>
            <a:srgbClr val="2E86DE">
              <a:alpha val="74901"/>
            </a:srgbClr>
          </a:solidFill>
          <a:ln cap="flat" cmpd="sng" w="127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57200" y="3154680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Terraform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1645920" y="3154680"/>
            <a:ext cx="1078992" cy="292608"/>
          </a:xfrm>
          <a:prstGeom prst="roundRect">
            <a:avLst>
              <a:gd fmla="val 25000" name="adj"/>
            </a:avLst>
          </a:prstGeom>
          <a:solidFill>
            <a:srgbClr val="2E86DE">
              <a:alpha val="74901"/>
            </a:srgbClr>
          </a:solidFill>
          <a:ln cap="flat" cmpd="sng" w="127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1645920" y="3154680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Azure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2834640" y="3154680"/>
            <a:ext cx="1078992" cy="292608"/>
          </a:xfrm>
          <a:prstGeom prst="roundRect">
            <a:avLst>
              <a:gd fmla="val 25000" name="adj"/>
            </a:avLst>
          </a:prstGeom>
          <a:solidFill>
            <a:srgbClr val="2E86DE">
              <a:alpha val="74901"/>
            </a:srgbClr>
          </a:solidFill>
          <a:ln cap="flat" cmpd="sng" w="127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2834640" y="3154680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React 18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4023360" y="3154680"/>
            <a:ext cx="1078992" cy="292608"/>
          </a:xfrm>
          <a:prstGeom prst="roundRect">
            <a:avLst>
              <a:gd fmla="val 25000" name="adj"/>
            </a:avLst>
          </a:prstGeom>
          <a:solidFill>
            <a:srgbClr val="2E86DE">
              <a:alpha val="74901"/>
            </a:srgbClr>
          </a:solidFill>
          <a:ln cap="flat" cmpd="sng" w="127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4023360" y="3154680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212080" y="3154680"/>
            <a:ext cx="1078992" cy="292608"/>
          </a:xfrm>
          <a:prstGeom prst="roundRect">
            <a:avLst>
              <a:gd fmla="val 25000" name="adj"/>
            </a:avLst>
          </a:prstGeom>
          <a:solidFill>
            <a:srgbClr val="2E86DE">
              <a:alpha val="74901"/>
            </a:srgbClr>
          </a:solidFill>
          <a:ln cap="flat" cmpd="sng" w="127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5212080" y="3154680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6400800" y="3154680"/>
            <a:ext cx="1078992" cy="292608"/>
          </a:xfrm>
          <a:prstGeom prst="roundRect">
            <a:avLst>
              <a:gd fmla="val 25000" name="adj"/>
            </a:avLst>
          </a:prstGeom>
          <a:solidFill>
            <a:srgbClr val="2E86DE">
              <a:alpha val="74901"/>
            </a:srgbClr>
          </a:solidFill>
          <a:ln cap="flat" cmpd="sng" w="127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6400800" y="3154680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Nginx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7589520" y="3154680"/>
            <a:ext cx="1078992" cy="292608"/>
          </a:xfrm>
          <a:prstGeom prst="roundRect">
            <a:avLst>
              <a:gd fmla="val 25000" name="adj"/>
            </a:avLst>
          </a:prstGeom>
          <a:solidFill>
            <a:srgbClr val="2E86DE">
              <a:alpha val="74901"/>
            </a:srgbClr>
          </a:solidFill>
          <a:ln cap="flat" cmpd="sng" w="127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7589520" y="3154680"/>
            <a:ext cx="10789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PM2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DevOps | Cloud Architecture | IaC | Healthcare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8412480" y="91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20040" y="1097280"/>
            <a:ext cx="384048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57200" y="1188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is MediShift?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57200" y="1645920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Mission-critical healthcare application for 24/7 hospital operations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Manages staff schedules, shift rotations, and leave requests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Designed for maximum uptime, resilience, and data security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Supports multiple medical departments simultaneously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572000" y="1097280"/>
            <a:ext cx="420624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4709160" y="11887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Backend Microservices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709160" y="1691640"/>
            <a:ext cx="3886200" cy="594360"/>
          </a:xfrm>
          <a:prstGeom prst="rect">
            <a:avLst/>
          </a:prstGeom>
          <a:solidFill>
            <a:srgbClr val="2E86DE">
              <a:alpha val="12156"/>
            </a:srgbClr>
          </a:solidFill>
          <a:ln cap="flat" cmpd="sng" w="1905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709160" y="1691640"/>
            <a:ext cx="109728" cy="59436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4892040" y="17373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Auth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892040" y="200253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JWT authentication &amp; user 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7726680" y="1856232"/>
            <a:ext cx="749808" cy="237744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7726680" y="1856232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 3001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709160" y="2441448"/>
            <a:ext cx="3886200" cy="594360"/>
          </a:xfrm>
          <a:prstGeom prst="rect">
            <a:avLst/>
          </a:prstGeom>
          <a:solidFill>
            <a:srgbClr val="0891B2">
              <a:alpha val="12156"/>
            </a:srgbClr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4709160" y="2441448"/>
            <a:ext cx="109728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892040" y="24871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Staff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892040" y="275234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Staff profiles &amp; department 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7726680" y="2606040"/>
            <a:ext cx="749808" cy="23774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7726680" y="260604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 3002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4709160" y="3191256"/>
            <a:ext cx="3886200" cy="594360"/>
          </a:xfrm>
          <a:prstGeom prst="rect">
            <a:avLst/>
          </a:prstGeom>
          <a:solidFill>
            <a:srgbClr val="059669">
              <a:alpha val="12156"/>
            </a:srgbClr>
          </a:solidFill>
          <a:ln cap="flat" cmpd="sng" w="1905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4709160" y="3191256"/>
            <a:ext cx="109728" cy="59436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4892040" y="323697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Shift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892040" y="350215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Shift scheduling &amp; rotation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7726680" y="3355848"/>
            <a:ext cx="749808" cy="237744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7726680" y="335584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 3003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4709160" y="3941064"/>
            <a:ext cx="3886200" cy="594360"/>
          </a:xfrm>
          <a:prstGeom prst="rect">
            <a:avLst/>
          </a:prstGeom>
          <a:solidFill>
            <a:srgbClr val="D97706">
              <a:alpha val="12156"/>
            </a:srgbClr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4709160" y="3941064"/>
            <a:ext cx="109728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4892040" y="398678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Leave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4892040" y="42519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Leave requests &amp; approval workflows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7726680" y="4105656"/>
            <a:ext cx="749808" cy="23774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7726680" y="4105656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 3004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8412480" y="91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7"/>
          <p:cNvCxnSpPr/>
          <p:nvPr/>
        </p:nvCxnSpPr>
        <p:spPr>
          <a:xfrm>
            <a:off x="1737360" y="329184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C8D3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7"/>
          <p:cNvCxnSpPr/>
          <p:nvPr/>
        </p:nvCxnSpPr>
        <p:spPr>
          <a:xfrm>
            <a:off x="7406640" y="329184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C8D3E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9" name="Google Shape;129;p17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066800"/>
            <a:ext cx="7772400" cy="392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3-TIER APPLICATION FLOW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8412480" y="91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228600" y="1508760"/>
            <a:ext cx="1417320" cy="7772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228600" y="156362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228600" y="198424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http://medishift.co.in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800100" y="1188720"/>
            <a:ext cx="274320" cy="27432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80010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18"/>
          <p:cNvCxnSpPr/>
          <p:nvPr/>
        </p:nvCxnSpPr>
        <p:spPr>
          <a:xfrm>
            <a:off x="1682496" y="1897380"/>
            <a:ext cx="246888" cy="0"/>
          </a:xfrm>
          <a:prstGeom prst="straightConnector1">
            <a:avLst/>
          </a:prstGeom>
          <a:noFill/>
          <a:ln cap="flat" cmpd="sng" w="254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18"/>
          <p:cNvSpPr/>
          <p:nvPr/>
        </p:nvSpPr>
        <p:spPr>
          <a:xfrm>
            <a:off x="1965960" y="1508760"/>
            <a:ext cx="1417320" cy="77724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1965960" y="156362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Gateway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(WAF_v2)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965960" y="198424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Path-based routing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2537460" y="1188720"/>
            <a:ext cx="274320" cy="27432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253746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18"/>
          <p:cNvCxnSpPr/>
          <p:nvPr/>
        </p:nvCxnSpPr>
        <p:spPr>
          <a:xfrm>
            <a:off x="3419856" y="1897380"/>
            <a:ext cx="246888" cy="0"/>
          </a:xfrm>
          <a:prstGeom prst="straightConnector1">
            <a:avLst/>
          </a:prstGeom>
          <a:noFill/>
          <a:ln cap="flat" cmpd="sng" w="254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18"/>
          <p:cNvSpPr/>
          <p:nvPr/>
        </p:nvSpPr>
        <p:spPr>
          <a:xfrm>
            <a:off x="3703320" y="1508760"/>
            <a:ext cx="141732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3703320" y="156362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VMSS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Nginx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703320" y="198424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Serves React SPA (/*)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274820" y="1188720"/>
            <a:ext cx="274320" cy="27432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427482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8"/>
          <p:cNvCxnSpPr/>
          <p:nvPr/>
        </p:nvCxnSpPr>
        <p:spPr>
          <a:xfrm>
            <a:off x="5157216" y="1897380"/>
            <a:ext cx="246888" cy="0"/>
          </a:xfrm>
          <a:prstGeom prst="straightConnector1">
            <a:avLst/>
          </a:prstGeom>
          <a:noFill/>
          <a:ln cap="flat" cmpd="sng" w="254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8"/>
          <p:cNvSpPr/>
          <p:nvPr/>
        </p:nvSpPr>
        <p:spPr>
          <a:xfrm>
            <a:off x="5440680" y="1508760"/>
            <a:ext cx="1417320" cy="777240"/>
          </a:xfrm>
          <a:prstGeom prst="rect">
            <a:avLst/>
          </a:prstGeom>
          <a:solidFill>
            <a:srgbClr val="1B5EBE"/>
          </a:solidFill>
          <a:ln cap="flat" cmpd="sng" w="12700">
            <a:solidFill>
              <a:srgbClr val="1B5EB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440680" y="156362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VM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PM2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440680" y="198424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API routes (/api/*)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012180" y="1188720"/>
            <a:ext cx="274320" cy="27432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601218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8"/>
          <p:cNvCxnSpPr/>
          <p:nvPr/>
        </p:nvCxnSpPr>
        <p:spPr>
          <a:xfrm>
            <a:off x="6894576" y="1897380"/>
            <a:ext cx="246888" cy="0"/>
          </a:xfrm>
          <a:prstGeom prst="straightConnector1">
            <a:avLst/>
          </a:prstGeom>
          <a:noFill/>
          <a:ln cap="flat" cmpd="sng" w="254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18"/>
          <p:cNvSpPr/>
          <p:nvPr/>
        </p:nvSpPr>
        <p:spPr>
          <a:xfrm>
            <a:off x="7178040" y="1508760"/>
            <a:ext cx="1417320" cy="7772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7178040" y="156362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Flexible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7178040" y="198424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Private VNet subnet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749540" y="1188720"/>
            <a:ext cx="274320" cy="27432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774954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20040" y="248716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Internal Nginx Routing on Microservices VM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20040" y="2880360"/>
            <a:ext cx="20574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320040" y="2880360"/>
            <a:ext cx="2057400" cy="201168"/>
          </a:xfrm>
          <a:prstGeom prst="rect">
            <a:avLst/>
          </a:prstGeom>
          <a:solidFill>
            <a:srgbClr val="2E86DE">
              <a:alpha val="74901"/>
            </a:srgbClr>
          </a:solidFill>
          <a:ln cap="flat" cmpd="sng" w="12700">
            <a:solidFill>
              <a:srgbClr val="2E86D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384048" y="2880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/api/auth/*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384048" y="309067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→ localhost:3001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84048" y="331012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Auth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2514600" y="2880360"/>
            <a:ext cx="20574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2514600" y="2880360"/>
            <a:ext cx="2057400" cy="201168"/>
          </a:xfrm>
          <a:prstGeom prst="rect">
            <a:avLst/>
          </a:prstGeom>
          <a:solidFill>
            <a:srgbClr val="2E86DE">
              <a:alpha val="74901"/>
            </a:srgbClr>
          </a:solidFill>
          <a:ln cap="flat" cmpd="sng" w="12700">
            <a:solidFill>
              <a:srgbClr val="2E86D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2578608" y="2880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/api/staff/*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2578608" y="309067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→ localhost:3002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578608" y="331012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Staff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709160" y="2880360"/>
            <a:ext cx="20574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4709160" y="2880360"/>
            <a:ext cx="2057400" cy="201168"/>
          </a:xfrm>
          <a:prstGeom prst="rect">
            <a:avLst/>
          </a:prstGeom>
          <a:solidFill>
            <a:srgbClr val="2E86DE">
              <a:alpha val="74901"/>
            </a:srgbClr>
          </a:solidFill>
          <a:ln cap="flat" cmpd="sng" w="12700">
            <a:solidFill>
              <a:srgbClr val="2E86D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4773168" y="2880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/api/shifts/*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773168" y="309067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→ localhost:3003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773168" y="331012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Shift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6903720" y="2880360"/>
            <a:ext cx="20574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6903720" y="2880360"/>
            <a:ext cx="2057400" cy="201168"/>
          </a:xfrm>
          <a:prstGeom prst="rect">
            <a:avLst/>
          </a:prstGeom>
          <a:solidFill>
            <a:srgbClr val="2E86DE">
              <a:alpha val="74901"/>
            </a:srgbClr>
          </a:solidFill>
          <a:ln cap="flat" cmpd="sng" w="12700">
            <a:solidFill>
              <a:srgbClr val="2E86DE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6967728" y="2880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/api/leaves/*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6967728" y="309067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→ localhost:3004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967728" y="331012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Leave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20040" y="376732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Each microservice uses Sequelize ORM to communicate with Azure PostgreSQL via private VNet — no public DB exposure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1B5EBE">
              <a:alpha val="12156"/>
            </a:srgbClr>
          </a:solidFill>
          <a:ln cap="flat" cmpd="sng" w="12700">
            <a:solidFill>
              <a:srgbClr val="1B5EBE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MICROSERVICES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B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274320" y="914400"/>
            <a:ext cx="5029200" cy="777240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1905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274320" y="914400"/>
            <a:ext cx="128016" cy="77724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480560" y="1115568"/>
            <a:ext cx="713232" cy="256032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4480560" y="1115568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:3001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48640" y="1005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Auth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548640" y="13258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JWT tokens, login, registration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274320" y="1874520"/>
            <a:ext cx="5029200" cy="777240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274320" y="1874520"/>
            <a:ext cx="128016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4480560" y="2075688"/>
            <a:ext cx="713232" cy="2560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4480560" y="2075688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:3002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48640" y="1965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Staff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48640" y="22860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Staff CRUD, department mgmt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274320" y="2834640"/>
            <a:ext cx="5029200" cy="777240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1905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274320" y="2834640"/>
            <a:ext cx="128016" cy="7772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4480560" y="3035808"/>
            <a:ext cx="713232" cy="25603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4480560" y="3035808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:3003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48640" y="2926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Shift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48640" y="32461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Shift scheduling, rotations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274320" y="3794760"/>
            <a:ext cx="5029200" cy="777240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274320" y="3794760"/>
            <a:ext cx="128016" cy="7772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4480560" y="3995928"/>
            <a:ext cx="713232" cy="25603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4480560" y="3995928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:3004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48640" y="3886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Leave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548640" y="42062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Leave requests &amp; approvals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5669280" y="914400"/>
            <a:ext cx="3200400" cy="1188720"/>
          </a:xfrm>
          <a:prstGeom prst="rect">
            <a:avLst/>
          </a:prstGeom>
          <a:solidFill>
            <a:srgbClr val="EEF3FA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5806440" y="98755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PM2 Process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806440" y="1307592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5EBE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Auto-restart on crash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B5EBE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Env variable injection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B5EBE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Persists across reboots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B5EBE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Logs monitoring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5669280" y="2286000"/>
            <a:ext cx="3200400" cy="1188720"/>
          </a:xfrm>
          <a:prstGeom prst="rect">
            <a:avLst/>
          </a:prstGeom>
          <a:solidFill>
            <a:srgbClr val="EEF3FA"/>
          </a:solidFill>
          <a:ln cap="flat" cmpd="sng" w="1905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806440" y="235915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Nginx Reverse Proxy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5806440" y="2679192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5EBE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Listens on port 80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B5EBE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Routes /api/* sub-paths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B5EBE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Immediate 200 OK for health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B5EBE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No Docker required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669280" y="3657600"/>
            <a:ext cx="3200400" cy="822960"/>
          </a:xfrm>
          <a:prstGeom prst="rect">
            <a:avLst/>
          </a:prstGeom>
          <a:solidFill>
            <a:srgbClr val="D97706">
              <a:alpha val="85098"/>
            </a:srgbClr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5806440" y="37307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Native Linux Execution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806440" y="4005072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No Docker • No Kubernetes • No Containers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Pure systemd + PM2 + Nginx stack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 &amp; SECURITY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8412480" y="91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20040" y="10241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VNet Subnet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320040" y="1371600"/>
            <a:ext cx="4114800" cy="2743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411480" y="1371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1719072" y="13716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CIDR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2578608" y="13716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320040" y="1645920"/>
            <a:ext cx="41148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411480" y="1645920"/>
            <a:ext cx="12801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AppGateway-Subnet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1719072" y="1645920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10.0.1.0/24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2578608" y="1645920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WAF_v2 Ingress &amp; SSL termination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320040" y="2066544"/>
            <a:ext cx="4114800" cy="393192"/>
          </a:xfrm>
          <a:prstGeom prst="rect">
            <a:avLst/>
          </a:prstGeom>
          <a:solidFill>
            <a:srgbClr val="F4F8FF"/>
          </a:solidFill>
          <a:ln cap="flat" cmpd="sng" w="9525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411480" y="2066544"/>
            <a:ext cx="12801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Frontend-Subnet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1719072" y="2066544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10.0.2.0/24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2578608" y="2066544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VMSS – React SPA via Nginx port 80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320040" y="2487168"/>
            <a:ext cx="41148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411480" y="2487168"/>
            <a:ext cx="12801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Microservices-Sub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1719072" y="2487168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10.0.3.0/24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2578608" y="2487168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Node.js PM2 services ports 3001-3004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320040" y="2907792"/>
            <a:ext cx="4114800" cy="393192"/>
          </a:xfrm>
          <a:prstGeom prst="rect">
            <a:avLst/>
          </a:prstGeom>
          <a:solidFill>
            <a:srgbClr val="F4F8FF"/>
          </a:solidFill>
          <a:ln cap="flat" cmpd="sng" w="9525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411480" y="2907792"/>
            <a:ext cx="12801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PostgreSQL-Subnet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1719072" y="2907792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10.0.4.0/24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2578608" y="2907792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Delegated – no public IP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320040" y="3328416"/>
            <a:ext cx="41148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411480" y="3328416"/>
            <a:ext cx="12801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Bastion-Subnet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1719072" y="3328416"/>
            <a:ext cx="8412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DE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2E86DE"/>
                </a:solidFill>
                <a:latin typeface="Calibri"/>
                <a:ea typeface="Calibri"/>
                <a:cs typeface="Calibri"/>
                <a:sym typeface="Calibri"/>
              </a:rPr>
              <a:t>10.0.5.0/24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2578608" y="3328416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Azure Bastion SSH management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4754880" y="10241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Security Controls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4754880" y="1371600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4754880" y="1371600"/>
            <a:ext cx="109728" cy="5029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4937760" y="140817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WAF Protection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937760" y="161848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Application Gateway WAF_v2 filters malicious HTTP traffic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4754880" y="1947672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4754880" y="1947672"/>
            <a:ext cx="109728" cy="50292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4937760" y="198424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NSG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4937760" y="219456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Port 80/443 only on AppGW; Ports 3001-3004 internal 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4754880" y="2523744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4754880" y="2523744"/>
            <a:ext cx="109728" cy="5029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4937760" y="256032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No Public DB 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4937760" y="277063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PostgreSQL isolated in delegated subnet with Private DNS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4754880" y="3099816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4754880" y="3099816"/>
            <a:ext cx="109728" cy="5029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4937760" y="31363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Bastion-Only SSH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4937760" y="334670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Port 22 blocked from internet, only via Bastion subnet CIDR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4754880" y="3675888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4754880" y="3675888"/>
            <a:ext cx="109728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4937760" y="371246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NAT Gateway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4937760" y="392277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All VMs access internet outbound via NAT — no public IPs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4754880" y="4251960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4754880" y="4251960"/>
            <a:ext cx="109728" cy="5029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4937760" y="428853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Secret Injection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4937760" y="449884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JWT &amp; DB passwords injected via PM2 env at provisioning 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E86DE">
              <a:alpha val="10196"/>
            </a:srgbClr>
          </a:solidFill>
          <a:ln cap="flat" cmpd="sng" w="12700">
            <a:solidFill>
              <a:srgbClr val="2E86DE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B5EBE">
              <a:alpha val="12156"/>
            </a:srgbClr>
          </a:solidFill>
          <a:ln cap="flat" cmpd="sng" w="12700">
            <a:solidFill>
              <a:srgbClr val="1B5EBE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TERRAFORM AUTOMATION &amp; DEPLOYMENT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B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274320" y="914400"/>
            <a:ext cx="1965960" cy="1005840"/>
          </a:xfrm>
          <a:prstGeom prst="rect">
            <a:avLst/>
          </a:prstGeom>
          <a:solidFill>
            <a:srgbClr val="0891B2">
              <a:alpha val="87843"/>
            </a:srgbClr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1005840" y="594360"/>
            <a:ext cx="502920" cy="5029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1005840" y="594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274320" y="969264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terraform init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365760" y="13716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Downloads azurerm, random, archive providers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21"/>
          <p:cNvCxnSpPr/>
          <p:nvPr/>
        </p:nvCxnSpPr>
        <p:spPr>
          <a:xfrm>
            <a:off x="2240280" y="1417320"/>
            <a:ext cx="210312" cy="0"/>
          </a:xfrm>
          <a:prstGeom prst="straightConnector1">
            <a:avLst/>
          </a:prstGeom>
          <a:noFill/>
          <a:ln cap="flat" cmpd="sng" w="254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21"/>
          <p:cNvSpPr/>
          <p:nvPr/>
        </p:nvSpPr>
        <p:spPr>
          <a:xfrm>
            <a:off x="2450592" y="914400"/>
            <a:ext cx="1965960" cy="1005840"/>
          </a:xfrm>
          <a:prstGeom prst="rect">
            <a:avLst/>
          </a:prstGeom>
          <a:solidFill>
            <a:srgbClr val="2E86DE">
              <a:alpha val="87843"/>
            </a:srgbClr>
          </a:solidFill>
          <a:ln cap="flat" cmpd="sng" w="254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3182112" y="594360"/>
            <a:ext cx="502920" cy="502920"/>
          </a:xfrm>
          <a:prstGeom prst="ellipse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3182112" y="594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2450592" y="969264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terraform validate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2542032" y="13716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Static syntax check across all modules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21"/>
          <p:cNvCxnSpPr/>
          <p:nvPr/>
        </p:nvCxnSpPr>
        <p:spPr>
          <a:xfrm>
            <a:off x="4416552" y="1417320"/>
            <a:ext cx="210312" cy="0"/>
          </a:xfrm>
          <a:prstGeom prst="straightConnector1">
            <a:avLst/>
          </a:prstGeom>
          <a:noFill/>
          <a:ln cap="flat" cmpd="sng" w="254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21"/>
          <p:cNvSpPr/>
          <p:nvPr/>
        </p:nvSpPr>
        <p:spPr>
          <a:xfrm>
            <a:off x="4626864" y="914400"/>
            <a:ext cx="1965960" cy="1005840"/>
          </a:xfrm>
          <a:prstGeom prst="rect">
            <a:avLst/>
          </a:prstGeom>
          <a:solidFill>
            <a:srgbClr val="D97706">
              <a:alpha val="87843"/>
            </a:srgbClr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5358384" y="594360"/>
            <a:ext cx="502920" cy="50292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5358384" y="594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4626864" y="969264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terraform plan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4718304" y="13716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Compiles desired state vs Azure reality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21"/>
          <p:cNvCxnSpPr/>
          <p:nvPr/>
        </p:nvCxnSpPr>
        <p:spPr>
          <a:xfrm>
            <a:off x="6592824" y="1417320"/>
            <a:ext cx="210312" cy="0"/>
          </a:xfrm>
          <a:prstGeom prst="straightConnector1">
            <a:avLst/>
          </a:prstGeom>
          <a:noFill/>
          <a:ln cap="flat" cmpd="sng" w="254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21"/>
          <p:cNvSpPr/>
          <p:nvPr/>
        </p:nvSpPr>
        <p:spPr>
          <a:xfrm>
            <a:off x="6803136" y="914400"/>
            <a:ext cx="1965960" cy="1005840"/>
          </a:xfrm>
          <a:prstGeom prst="rect">
            <a:avLst/>
          </a:prstGeom>
          <a:solidFill>
            <a:srgbClr val="059669">
              <a:alpha val="87843"/>
            </a:srgbClr>
          </a:solidFill>
          <a:ln cap="flat" cmpd="sng" w="254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7534656" y="594360"/>
            <a:ext cx="502920" cy="502920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7534656" y="594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6803136" y="969264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terraform apply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6894576" y="13716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Deploys all resources with auto-approve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274320" y="21488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Automated VM Bootstrapping Sequence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274320" y="2633472"/>
            <a:ext cx="8595360" cy="411480"/>
          </a:xfrm>
          <a:prstGeom prst="rect">
            <a:avLst/>
          </a:prstGeom>
          <a:solidFill>
            <a:srgbClr val="FFFFFF">
              <a:alpha val="92156"/>
            </a:srgbClr>
          </a:solidFill>
          <a:ln cap="flat" cmpd="sng" w="9525">
            <a:solidFill>
              <a:srgbClr val="C8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274320" y="2697480"/>
            <a:ext cx="274320" cy="274320"/>
          </a:xfrm>
          <a:prstGeom prst="ellipse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274320" y="26974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658368" y="26883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Nginx Instant 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2514600" y="2706624"/>
            <a:ext cx="6263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Serves 200 OK placeholder immediately — App Gateway health probes pass within 2 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274320" y="3108960"/>
            <a:ext cx="8595360" cy="411480"/>
          </a:xfrm>
          <a:prstGeom prst="rect">
            <a:avLst/>
          </a:prstGeom>
          <a:solidFill>
            <a:srgbClr val="FFFFFF">
              <a:alpha val="92156"/>
            </a:srgbClr>
          </a:solidFill>
          <a:ln cap="flat" cmpd="sng" w="9525">
            <a:solidFill>
              <a:srgbClr val="C8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274320" y="3172968"/>
            <a:ext cx="274320" cy="274320"/>
          </a:xfrm>
          <a:prstGeom prst="ellipse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274320" y="31729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658368" y="316382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GitHub Clone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2514600" y="3182112"/>
            <a:ext cx="6263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Clones MediShift_v1.git from public GitHub — no SAS URLs, fully reproducible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274320" y="3584448"/>
            <a:ext cx="8595360" cy="411480"/>
          </a:xfrm>
          <a:prstGeom prst="rect">
            <a:avLst/>
          </a:prstGeom>
          <a:solidFill>
            <a:srgbClr val="FFFFFF">
              <a:alpha val="92156"/>
            </a:srgbClr>
          </a:solidFill>
          <a:ln cap="flat" cmpd="sng" w="9525">
            <a:solidFill>
              <a:srgbClr val="C8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274320" y="3648456"/>
            <a:ext cx="274320" cy="274320"/>
          </a:xfrm>
          <a:prstGeom prst="ellipse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274320" y="36484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658368" y="36393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React Build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2514600" y="3657600"/>
            <a:ext cx="6263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npm install + npm run build on Standard_B2as_v2 (4GiB RAM, no OOM errors)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274320" y="4059936"/>
            <a:ext cx="8595360" cy="411480"/>
          </a:xfrm>
          <a:prstGeom prst="rect">
            <a:avLst/>
          </a:prstGeom>
          <a:solidFill>
            <a:srgbClr val="FFFFFF">
              <a:alpha val="92156"/>
            </a:srgbClr>
          </a:solidFill>
          <a:ln cap="flat" cmpd="sng" w="9525">
            <a:solidFill>
              <a:srgbClr val="C8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274320" y="4123944"/>
            <a:ext cx="274320" cy="274320"/>
          </a:xfrm>
          <a:prstGeom prst="ellipse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274320" y="41239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658368" y="41148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PM2 Env Injection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2514600" y="4133088"/>
            <a:ext cx="6263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PORT=3001 DATABASE_URL='...' JWT_SECRET='...' pm2 start — OS-level env vars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274320" y="4535424"/>
            <a:ext cx="8595360" cy="411480"/>
          </a:xfrm>
          <a:prstGeom prst="rect">
            <a:avLst/>
          </a:prstGeom>
          <a:solidFill>
            <a:srgbClr val="FFFFFF">
              <a:alpha val="92156"/>
            </a:srgbClr>
          </a:solidFill>
          <a:ln cap="flat" cmpd="sng" w="9525">
            <a:solidFill>
              <a:srgbClr val="C8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274320" y="4599432"/>
            <a:ext cx="274320" cy="274320"/>
          </a:xfrm>
          <a:prstGeom prst="ellipse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274320" y="45994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658368" y="45902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Production Swap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2514600" y="4608576"/>
            <a:ext cx="6263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Compiled React assets replace loading page in /var/www/html — live instantly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SCALABILITY &amp; PRODUCTION READINESS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8412480" y="91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8D8E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274320" y="1005840"/>
            <a:ext cx="26517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274320" y="1005840"/>
            <a:ext cx="2651760" cy="292608"/>
          </a:xfrm>
          <a:prstGeom prst="rect">
            <a:avLst/>
          </a:prstGeom>
          <a:solidFill>
            <a:srgbClr val="2E86DE">
              <a:alpha val="85098"/>
            </a:srgbClr>
          </a:solidFill>
          <a:ln cap="flat" cmpd="sng" w="12700">
            <a:solidFill>
              <a:srgbClr val="2E86D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2423160" y="1042416"/>
            <a:ext cx="219456" cy="219456"/>
          </a:xfrm>
          <a:prstGeom prst="ellipse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2"/>
          <p:cNvSpPr/>
          <p:nvPr/>
        </p:nvSpPr>
        <p:spPr>
          <a:xfrm>
            <a:off x="384048" y="104241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Horizontal Scaling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384048" y="1371600"/>
            <a:ext cx="24505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VMSS auto-adds instances to FrontendBackendPool on scale-out — instant load balancing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3081528" y="1005840"/>
            <a:ext cx="26517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3081528" y="1005840"/>
            <a:ext cx="2651760" cy="292608"/>
          </a:xfrm>
          <a:prstGeom prst="rect">
            <a:avLst/>
          </a:prstGeom>
          <a:solidFill>
            <a:srgbClr val="0891B2">
              <a:alpha val="85098"/>
            </a:srgbClr>
          </a:solidFill>
          <a:ln cap="flat" cmpd="sng" w="12700">
            <a:solidFill>
              <a:srgbClr val="0891B2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5230368" y="1042416"/>
            <a:ext cx="219456" cy="21945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3191256" y="104241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Health Probes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3191256" y="1371600"/>
            <a:ext cx="24505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App Gateway probes / on port 80. Nginx responds 200 OK immediately — no 502 cold-start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5888736" y="1005840"/>
            <a:ext cx="26517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5888736" y="1005840"/>
            <a:ext cx="2651760" cy="292608"/>
          </a:xfrm>
          <a:prstGeom prst="rect">
            <a:avLst/>
          </a:prstGeom>
          <a:solidFill>
            <a:srgbClr val="059669">
              <a:alpha val="85098"/>
            </a:srgbClr>
          </a:solidFill>
          <a:ln cap="flat" cmpd="sng" w="12700">
            <a:solidFill>
              <a:srgbClr val="059669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2"/>
          <p:cNvSpPr/>
          <p:nvPr/>
        </p:nvSpPr>
        <p:spPr>
          <a:xfrm>
            <a:off x="8037576" y="1042416"/>
            <a:ext cx="219456" cy="219456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5998464" y="104241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High Availability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5998464" y="1371600"/>
            <a:ext cx="24505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Layer-7 load balancing with automatic unhealthy instance removal from backend 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274320" y="2423160"/>
            <a:ext cx="26517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"/>
          <p:cNvSpPr/>
          <p:nvPr/>
        </p:nvSpPr>
        <p:spPr>
          <a:xfrm>
            <a:off x="274320" y="2423160"/>
            <a:ext cx="2651760" cy="292608"/>
          </a:xfrm>
          <a:prstGeom prst="rect">
            <a:avLst/>
          </a:prstGeom>
          <a:solidFill>
            <a:srgbClr val="D97706">
              <a:alpha val="85098"/>
            </a:srgbClr>
          </a:solidFill>
          <a:ln cap="flat" cmpd="sng" w="12700">
            <a:solidFill>
              <a:srgbClr val="D97706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>
            <a:off x="2423160" y="2459736"/>
            <a:ext cx="219456" cy="21945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>
            <a:off x="384048" y="245973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Cost Optimization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384048" y="2788920"/>
            <a:ext cx="24505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Standard_B2as_v2 (burstable AMD) — 4GiB RAM, 2 vCPU — max performance within 4-core quota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3081528" y="2423160"/>
            <a:ext cx="26517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3081528" y="2423160"/>
            <a:ext cx="2651760" cy="292608"/>
          </a:xfrm>
          <a:prstGeom prst="rect">
            <a:avLst/>
          </a:prstGeom>
          <a:solidFill>
            <a:srgbClr val="0D1B3E">
              <a:alpha val="85098"/>
            </a:srgbClr>
          </a:solidFill>
          <a:ln cap="flat" cmpd="sng" w="12700">
            <a:solidFill>
              <a:srgbClr val="0D1B3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5230368" y="2459736"/>
            <a:ext cx="219456" cy="219456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3191256" y="245973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Downtime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3191256" y="2788920"/>
            <a:ext cx="24505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Nginx placeholder serves health probes during React build — no downtime window ever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5888736" y="2423160"/>
            <a:ext cx="26517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D1B3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5888736" y="2423160"/>
            <a:ext cx="2651760" cy="292608"/>
          </a:xfrm>
          <a:prstGeom prst="rect">
            <a:avLst/>
          </a:prstGeom>
          <a:solidFill>
            <a:srgbClr val="DC2626">
              <a:alpha val="85098"/>
            </a:srgbClr>
          </a:solidFill>
          <a:ln cap="flat" cmpd="sng" w="12700">
            <a:solidFill>
              <a:srgbClr val="DC2626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8037576" y="2459736"/>
            <a:ext cx="219456" cy="219456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5998464" y="245973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Quota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5998464" y="2788920"/>
            <a:ext cx="24505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 cores (VM) + 2 cores (VMSS) = exactly 4 vCPU — tailored for dev subscription limits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B5EBE">
              <a:alpha val="12156"/>
            </a:srgbClr>
          </a:solidFill>
          <a:ln cap="flat" cmpd="sng" w="12700">
            <a:solidFill>
              <a:srgbClr val="1B5EBE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3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2E86DE">
              <a:alpha val="10196"/>
            </a:srgbClr>
          </a:solidFill>
          <a:ln cap="flat" cmpd="sng" w="12700">
            <a:solidFill>
              <a:srgbClr val="2E86DE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3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CONCLUSION &amp; FUTURE ROADMAP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B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274320" y="914400"/>
            <a:ext cx="4023360" cy="3200400"/>
          </a:xfrm>
          <a:prstGeom prst="rect">
            <a:avLst/>
          </a:prstGeom>
          <a:solidFill>
            <a:srgbClr val="EEF3FA"/>
          </a:solidFill>
          <a:ln cap="flat" cmpd="sng" w="1905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3"/>
          <p:cNvSpPr/>
          <p:nvPr/>
        </p:nvSpPr>
        <p:spPr>
          <a:xfrm>
            <a:off x="457200" y="9875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We Achieved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457200" y="1463040"/>
            <a:ext cx="182880" cy="182880"/>
          </a:xfrm>
          <a:prstGeom prst="ellipse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749808" y="1417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Production-grade Azure 3-tier deployment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457200" y="1938528"/>
            <a:ext cx="182880" cy="18288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749808" y="189280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100% automated Terraform IaC pipeline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457200" y="2414016"/>
            <a:ext cx="182880" cy="182880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749808" y="2368296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Secure VNet-isolated PostgreSQL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457200" y="2889504"/>
            <a:ext cx="182880" cy="18288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749808" y="284378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WAF_v2 protected application gateway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457200" y="3364992"/>
            <a:ext cx="182880" cy="18288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749808" y="331927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Native Linux PM2 microservices stack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457200" y="3840480"/>
            <a:ext cx="182880" cy="182880"/>
          </a:xfrm>
          <a:prstGeom prst="ellipse">
            <a:avLst/>
          </a:prstGeom>
          <a:solidFill>
            <a:srgbClr val="A8D8EA"/>
          </a:solidFill>
          <a:ln cap="flat" cmpd="sng" w="1270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749808" y="37947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4-core quota compliant — cost optimized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4663440" y="914400"/>
            <a:ext cx="4206240" cy="3200400"/>
          </a:xfrm>
          <a:prstGeom prst="rect">
            <a:avLst/>
          </a:prstGeom>
          <a:solidFill>
            <a:srgbClr val="EEF3FA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EEF3F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4846320" y="9875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4846320" y="1389888"/>
            <a:ext cx="3840480" cy="548640"/>
          </a:xfrm>
          <a:prstGeom prst="rect">
            <a:avLst/>
          </a:prstGeom>
          <a:solidFill>
            <a:srgbClr val="EEF3FA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3"/>
          <p:cNvSpPr/>
          <p:nvPr/>
        </p:nvSpPr>
        <p:spPr>
          <a:xfrm>
            <a:off x="4846320" y="1389888"/>
            <a:ext cx="91440" cy="548640"/>
          </a:xfrm>
          <a:prstGeom prst="rect">
            <a:avLst/>
          </a:prstGeom>
          <a:solidFill>
            <a:srgbClr val="2E86DE"/>
          </a:solidFill>
          <a:ln cap="flat" cmpd="sng" w="12700">
            <a:solidFill>
              <a:srgbClr val="2E8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5029200" y="14447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Docker + AKS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5029200" y="16642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B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Container migration to Azure Kubernetes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4846320" y="2075688"/>
            <a:ext cx="3840480" cy="548640"/>
          </a:xfrm>
          <a:prstGeom prst="rect">
            <a:avLst/>
          </a:prstGeom>
          <a:solidFill>
            <a:srgbClr val="EEF3FA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3"/>
          <p:cNvSpPr/>
          <p:nvPr/>
        </p:nvSpPr>
        <p:spPr>
          <a:xfrm>
            <a:off x="4846320" y="2075688"/>
            <a:ext cx="91440" cy="5486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5029200" y="21305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CI/CD GitHub 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5029200" y="23500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B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Auto terraform apply on main branch push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4846320" y="2761488"/>
            <a:ext cx="3840480" cy="548640"/>
          </a:xfrm>
          <a:prstGeom prst="rect">
            <a:avLst/>
          </a:prstGeom>
          <a:solidFill>
            <a:srgbClr val="EEF3FA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846320" y="2761488"/>
            <a:ext cx="91440" cy="5486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5029200" y="28163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HTTPS / SSL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5029200" y="30358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B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TLS certificates on Application Gateway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4846320" y="3447288"/>
            <a:ext cx="3840480" cy="548640"/>
          </a:xfrm>
          <a:prstGeom prst="rect">
            <a:avLst/>
          </a:prstGeom>
          <a:solidFill>
            <a:srgbClr val="EEF3FA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3"/>
          <p:cNvSpPr/>
          <p:nvPr/>
        </p:nvSpPr>
        <p:spPr>
          <a:xfrm>
            <a:off x="4846320" y="3447288"/>
            <a:ext cx="91440" cy="5486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5029200" y="35021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Azure Monitor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5029200" y="37216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B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B5EBE"/>
                </a:solidFill>
                <a:latin typeface="Calibri"/>
                <a:ea typeface="Calibri"/>
                <a:cs typeface="Calibri"/>
                <a:sym typeface="Calibri"/>
              </a:rPr>
              <a:t>Application Insights + Log Analytics integration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solidFill>
            <a:srgbClr val="2E86DE">
              <a:alpha val="85098"/>
            </a:srgbClr>
          </a:solidFill>
          <a:ln cap="flat" cmpd="sng" w="19050">
            <a:solidFill>
              <a:srgbClr val="A8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3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Thank You  ·  Questions &amp; Discussion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